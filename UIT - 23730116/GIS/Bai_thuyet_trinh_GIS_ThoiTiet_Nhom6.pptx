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45–60 giây. Giới thiệu tên đề tài, môn học và thành viên nhóm. Nhấn mạnh đây là hệ thống WebGIS thời tiết cho TP.HCM, kết hợp dữ liệu không gian, thời gian và trực quan hóa 2D/3D.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Nêu nhanh bố cục. Nhấn mạnh bài trình bày không đọc lại toàn bộ báo cáo mà tập trung vào ý chính và mối liên hệ với GIS 3D.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Nói về đặc thù TP.HCM: mưa cục bộ, nhiệt độ khác nhau theo khu vực, dữ liệu thời tiết thay đổi theo giờ. Từ đó dẫn đến nhu cầu hệ thống GIS thay vì chỉ bảng số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Trình bày hệ thống như một pipeline: thu thập dữ liệu, lưu vào PostGIS, xử lý/trực quan hóa, phân tích/dự báo, quản trị. Nói đây là mục tiêu tổng quát của đồ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1–1.5 phút. Đây là slide thể hiện hiểu môn học. Nhấn mạnh dữ liệu thời tiết là không gian–thời gian. 2D+Time không phải 3D hình học, nên nhóm bổ sung lớp 2.5D/3D bằng z_scaled/3D Bar để thể hiện cường độ.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Giải thích mô hình: Location là điểm, admin boundaries là polygon, weather là thuộc tính theo thời gian. Heatmap/raster không phải dữ liệu đo trực tiếp mà là lớp suy diễn.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Không đi sâu toán quá nhiều. Chỉ cần nói Haversine để tính khoảng cách, IDW để nội suy, z_scaled để biến giá trị thành chiều cao 3D.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Trình bày các tầng. Nhấn mạnh dữ liệu được lưu cục bộ trong PostGIS nên không phụ thuộc hoàn toàn API bên ngoài.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Nói ERD không chỉ là bảng nghiệp vụ mà có thuộc tính geom cho không gian. GRID_CELLS và GRID_TIME_VALUES phục vụ lớp dẫn xuất/3D, DATA_CHANGE_LOG phục vụ kiểm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Không cần trình bày mọi Use Case. Chỉ nhấn mạnh phân quyền theo 3 nhóm: user, analyst,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Nhấn mạnh DFD/Sequence không chỉ vẽ cho đẹp mà chứng minh hiểu luồng xử lý nghiệp vụ.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Trình bày ngắn: React/Leaflet cho bản đồ; Node/Express cho API; PostgreSQL/PostGIS cho dữ liệu không gian; Open-Meteo/Visual Crossing cho nguồn thời tiết.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Dùng ảnh giao diện để nói hệ thống đã trực quan hóa được nhiều lớp dữ liệu trên WebGIS và có thanh trượt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Nêu tính năng analyst và admin. Nhấn mạnh đây là điểm giúp hệ thống có tính hoàn chỉnh, không chỉ là trang xem bản đồ.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Tóm lại kết quả đạt được theo 4 nhóm: dữ liệu, GIS, phân tích, quản trị. Đây là slide tổng kết giá trị của sản phẩm.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Nêu hạn chế một cách thẳng thắn. Định hướng phát triển phải gắn với môn học: IoT để tăng mật độ dữ liệu, deep learning để dự báo, Kriging/DEM/voxel để tiến đến GIS 3D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Tóm lại 3 ý: đúng bài toán GIS, có mô hình rõ, có sản phẩm ứng dụng. Sau đó mời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jp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mnt/data/doc_images/image90.png">    </p:cNvPr>
          <p:cNvPicPr>
            <a:picLocks noChangeAspect="1"/>
          </p:cNvPicPr>
          <p:nvPr/>
        </p:nvPicPr>
        <p:blipFill>
          <a:blip r:embed="rId1"/>
          <a:srcRect l="18000" r="44558" t="6000" b="6000"/>
          <a:stretch/>
        </p:blipFill>
        <p:spPr>
          <a:xfrm>
            <a:off x="6995160" y="0"/>
            <a:ext cx="5193792" cy="6858000"/>
          </a:xfrm>
          <a:prstGeom prst="rect">
            <a:avLst/>
          </a:prstGeom>
        </p:spPr>
      </p:pic>
      <p:pic>
        <p:nvPicPr>
          <p:cNvPr id="3" name="Image 1" descr="/mnt/data/doc_images/image146.png">    </p:cNvPr>
          <p:cNvPicPr>
            <a:picLocks noChangeAspect="1"/>
          </p:cNvPicPr>
          <p:nvPr/>
        </p:nvPicPr>
        <p:blipFill>
          <a:blip r:embed="rId2"/>
          <a:stretch>
            <a:fillRect/>
          </a:stretch>
        </p:blipFill>
        <p:spPr>
          <a:xfrm>
            <a:off x="566928" y="475488"/>
            <a:ext cx="777240" cy="777240"/>
          </a:xfrm>
          <a:prstGeom prst="rect">
            <a:avLst/>
          </a:prstGeom>
        </p:spPr>
      </p:pic>
      <p:sp>
        <p:nvSpPr>
          <p:cNvPr id="4" name="Text 0"/>
          <p:cNvSpPr/>
          <p:nvPr/>
        </p:nvSpPr>
        <p:spPr>
          <a:xfrm>
            <a:off x="621792" y="1325880"/>
            <a:ext cx="6035040" cy="1371600"/>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Aptos Display" pitchFamily="34" charset="0"/>
                <a:ea typeface="Aptos Display" pitchFamily="34" charset="-122"/>
                <a:cs typeface="Aptos Display" pitchFamily="34" charset="-120"/>
              </a:rPr>
              <a:t>HỆ THỐNG GIS HỖ TRỢ TRỰC QUAN HÓA, PHÂN TÍCH VÀ DỰ BÁO THỜI TIẾT NGẮN HẠN TẠI TP.HCM</a:t>
            </a:r>
            <a:endParaRPr lang="en-US" sz="2600" dirty="0"/>
          </a:p>
        </p:txBody>
      </p:sp>
      <p:sp>
        <p:nvSpPr>
          <p:cNvPr id="5" name="Text 1"/>
          <p:cNvSpPr/>
          <p:nvPr/>
        </p:nvSpPr>
        <p:spPr>
          <a:xfrm>
            <a:off x="640080" y="2852928"/>
            <a:ext cx="5852160" cy="274320"/>
          </a:xfrm>
          <a:prstGeom prst="rect">
            <a:avLst/>
          </a:prstGeom>
          <a:noFill/>
          <a:ln/>
        </p:spPr>
        <p:txBody>
          <a:bodyPr wrap="square" lIns="0" tIns="0" rIns="0" bIns="0" rtlCol="0" anchor="ctr"/>
          <a:lstStyle/>
          <a:p>
            <a:pPr indent="0" marL="0">
              <a:buNone/>
            </a:pPr>
            <a:r>
              <a:rPr lang="en-US" sz="1300" dirty="0">
                <a:solidFill>
                  <a:srgbClr val="DBEAFE"/>
                </a:solidFill>
              </a:rPr>
              <a:t>Môn học: Hệ thống thông tin địa lý 3 chiều  •  Lớp: IE402.F21.CN1.CNTT  •  Nhóm 6</a:t>
            </a:r>
            <a:endParaRPr lang="en-US" sz="1300" dirty="0"/>
          </a:p>
        </p:txBody>
      </p:sp>
      <p:sp>
        <p:nvSpPr>
          <p:cNvPr id="6" name="Shape 2"/>
          <p:cNvSpPr/>
          <p:nvPr/>
        </p:nvSpPr>
        <p:spPr>
          <a:xfrm>
            <a:off x="658368" y="3685032"/>
            <a:ext cx="6126480" cy="2331720"/>
          </a:xfrm>
          <a:prstGeom prst="roundRect">
            <a:avLst>
              <a:gd name="adj" fmla="val 4706"/>
            </a:avLst>
          </a:prstGeom>
          <a:solidFill>
            <a:srgbClr val="0F172A">
              <a:alpha val="85000"/>
            </a:srgbClr>
          </a:solidFill>
          <a:ln w="12700">
            <a:solidFill>
              <a:srgbClr val="334155">
                <a:alpha val="65000"/>
              </a:srgbClr>
            </a:solidFill>
            <a:prstDash val="solid"/>
          </a:ln>
        </p:spPr>
      </p:sp>
      <p:sp>
        <p:nvSpPr>
          <p:cNvPr id="7" name="Text 3"/>
          <p:cNvSpPr/>
          <p:nvPr/>
        </p:nvSpPr>
        <p:spPr>
          <a:xfrm>
            <a:off x="896112" y="3913632"/>
            <a:ext cx="2103120" cy="228600"/>
          </a:xfrm>
          <a:prstGeom prst="rect">
            <a:avLst/>
          </a:prstGeom>
          <a:noFill/>
          <a:ln/>
        </p:spPr>
        <p:txBody>
          <a:bodyPr wrap="square" lIns="0" tIns="0" rIns="0" bIns="0" rtlCol="0" anchor="ctr"/>
          <a:lstStyle/>
          <a:p>
            <a:pPr indent="0" marL="0">
              <a:buNone/>
            </a:pPr>
            <a:r>
              <a:rPr lang="en-US" sz="1400" b="1" dirty="0">
                <a:solidFill>
                  <a:srgbClr val="FFFFFF"/>
                </a:solidFill>
              </a:rPr>
              <a:t>Thành viên nhóm</a:t>
            </a:r>
            <a:endParaRPr lang="en-US" sz="1400" dirty="0"/>
          </a:p>
        </p:txBody>
      </p:sp>
      <p:sp>
        <p:nvSpPr>
          <p:cNvPr id="8" name="Text 4"/>
          <p:cNvSpPr/>
          <p:nvPr/>
        </p:nvSpPr>
        <p:spPr>
          <a:xfrm>
            <a:off x="896112" y="4279392"/>
            <a:ext cx="5394960" cy="1389888"/>
          </a:xfrm>
          <a:prstGeom prst="rect">
            <a:avLst/>
          </a:prstGeom>
          <a:noFill/>
          <a:ln/>
        </p:spPr>
        <p:txBody>
          <a:bodyPr wrap="square" lIns="0" tIns="0" rIns="0" bIns="0" rtlCol="0" anchor="ctr">
            <a:normAutofit/>
          </a:bodyPr>
          <a:lstStyle/>
          <a:p>
            <a:pPr indent="0" marL="0">
              <a:buNone/>
            </a:pPr>
            <a:r>
              <a:rPr lang="en-US" sz="1170" dirty="0">
                <a:solidFill>
                  <a:srgbClr val="E2E8F0"/>
                </a:solidFill>
              </a:rPr>
              <a:t>23730139  Quách Tú Uyên</a:t>
            </a:r>
            <a:endParaRPr lang="en-US" sz="1170" dirty="0"/>
          </a:p>
          <a:p>
            <a:pPr indent="0" marL="0">
              <a:buNone/>
            </a:pPr>
            <a:r>
              <a:rPr lang="en-US" sz="1170" dirty="0">
                <a:solidFill>
                  <a:srgbClr val="E2E8F0"/>
                </a:solidFill>
              </a:rPr>
              <a:t>23730085  Lâm Huy Hoàng</a:t>
            </a:r>
            <a:endParaRPr lang="en-US" sz="1170" dirty="0"/>
          </a:p>
          <a:p>
            <a:pPr indent="0" marL="0">
              <a:buNone/>
            </a:pPr>
            <a:r>
              <a:rPr lang="en-US" sz="1170" dirty="0">
                <a:solidFill>
                  <a:srgbClr val="E2E8F0"/>
                </a:solidFill>
              </a:rPr>
              <a:t>23730093  Trịnh Hà Viết Huy</a:t>
            </a:r>
            <a:endParaRPr lang="en-US" sz="1170" dirty="0"/>
          </a:p>
          <a:p>
            <a:pPr indent="0" marL="0">
              <a:buNone/>
            </a:pPr>
            <a:r>
              <a:rPr lang="en-US" sz="1170" dirty="0">
                <a:solidFill>
                  <a:srgbClr val="E2E8F0"/>
                </a:solidFill>
              </a:rPr>
              <a:t>23730103  Lê Minh</a:t>
            </a:r>
            <a:endParaRPr lang="en-US" sz="1170" dirty="0"/>
          </a:p>
          <a:p>
            <a:pPr indent="0" marL="0">
              <a:buNone/>
            </a:pPr>
            <a:r>
              <a:rPr lang="en-US" sz="1170" dirty="0">
                <a:solidFill>
                  <a:srgbClr val="E2E8F0"/>
                </a:solidFill>
              </a:rPr>
              <a:t>23730079  Hồ Khắc Khánh Dương</a:t>
            </a:r>
            <a:endParaRPr lang="en-US" sz="1170" dirty="0"/>
          </a:p>
          <a:p>
            <a:pPr indent="0" marL="0">
              <a:buNone/>
            </a:pPr>
            <a:r>
              <a:rPr lang="en-US" sz="1170" dirty="0">
                <a:solidFill>
                  <a:srgbClr val="E2E8F0"/>
                </a:solidFill>
              </a:rPr>
              <a:t>23730116  Lê Hải Phúc</a:t>
            </a:r>
            <a:endParaRPr lang="en-US" sz="1170" dirty="0"/>
          </a:p>
        </p:txBody>
      </p:sp>
      <p:sp>
        <p:nvSpPr>
          <p:cNvPr id="9" name="Shape 5"/>
          <p:cNvSpPr/>
          <p:nvPr/>
        </p:nvSpPr>
        <p:spPr>
          <a:xfrm>
            <a:off x="9582912" y="6080760"/>
            <a:ext cx="1572768" cy="384048"/>
          </a:xfrm>
          <a:prstGeom prst="roundRect">
            <a:avLst>
              <a:gd name="adj" fmla="val 19048"/>
            </a:avLst>
          </a:prstGeom>
          <a:solidFill>
            <a:srgbClr val="F97316"/>
          </a:solidFill>
          <a:ln w="12700">
            <a:solidFill>
              <a:srgbClr val="F97316"/>
            </a:solidFill>
            <a:prstDash val="solid"/>
          </a:ln>
        </p:spPr>
      </p:sp>
      <p:sp>
        <p:nvSpPr>
          <p:cNvPr id="10" name="Text 6"/>
          <p:cNvSpPr/>
          <p:nvPr/>
        </p:nvSpPr>
        <p:spPr>
          <a:xfrm>
            <a:off x="9656064" y="6144768"/>
            <a:ext cx="1426464" cy="274320"/>
          </a:xfrm>
          <a:prstGeom prst="rect">
            <a:avLst/>
          </a:prstGeom>
          <a:noFill/>
          <a:ln/>
        </p:spPr>
        <p:txBody>
          <a:bodyPr wrap="square" lIns="254" tIns="254" rIns="254" bIns="254" rtlCol="0" anchor="ctr">
            <a:normAutofit/>
          </a:bodyPr>
          <a:lstStyle/>
          <a:p>
            <a:pPr algn="ctr" indent="0" marL="0">
              <a:buNone/>
            </a:pPr>
            <a:r>
              <a:rPr lang="en-US" sz="1200" b="1" dirty="0">
                <a:solidFill>
                  <a:srgbClr val="FFFFFF"/>
                </a:solidFill>
              </a:rPr>
              <a:t>15–20 phút</a:t>
            </a:r>
            <a:endParaRPr lang="en-US" sz="120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Nội dung thuyết trình</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Mục tiêu: trình bày ý chính, thể hiện hiểu đồ án và môn học</a:t>
            </a:r>
            <a:endParaRPr lang="en-US" sz="1050" dirty="0"/>
          </a:p>
        </p:txBody>
      </p:sp>
      <p:sp>
        <p:nvSpPr>
          <p:cNvPr id="5" name="Shape 3"/>
          <p:cNvSpPr/>
          <p:nvPr/>
        </p:nvSpPr>
        <p:spPr>
          <a:xfrm>
            <a:off x="713232" y="1252728"/>
            <a:ext cx="393192" cy="393192"/>
          </a:xfrm>
          <a:prstGeom prst="ellipse">
            <a:avLst/>
          </a:prstGeom>
          <a:solidFill>
            <a:srgbClr val="1D4ED8"/>
          </a:solidFill>
          <a:ln w="12700">
            <a:solidFill>
              <a:srgbClr val="1D4ED8"/>
            </a:solidFill>
            <a:prstDash val="solid"/>
          </a:ln>
        </p:spPr>
      </p:sp>
      <p:sp>
        <p:nvSpPr>
          <p:cNvPr id="6" name="Text 4"/>
          <p:cNvSpPr/>
          <p:nvPr/>
        </p:nvSpPr>
        <p:spPr>
          <a:xfrm>
            <a:off x="713232" y="1321308"/>
            <a:ext cx="393192" cy="18288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7" name="Text 5"/>
          <p:cNvSpPr/>
          <p:nvPr/>
        </p:nvSpPr>
        <p:spPr>
          <a:xfrm>
            <a:off x="1234440" y="1234440"/>
            <a:ext cx="3017520" cy="292608"/>
          </a:xfrm>
          <a:prstGeom prst="rect">
            <a:avLst/>
          </a:prstGeom>
          <a:noFill/>
          <a:ln/>
        </p:spPr>
        <p:txBody>
          <a:bodyPr wrap="square" lIns="0" tIns="0" rIns="0" bIns="0" rtlCol="0" anchor="ctr"/>
          <a:lstStyle/>
          <a:p>
            <a:pPr indent="0" marL="0">
              <a:buNone/>
            </a:pPr>
            <a:r>
              <a:rPr lang="en-US" sz="1700" b="1" dirty="0">
                <a:solidFill>
                  <a:srgbClr val="102A43"/>
                </a:solidFill>
              </a:rPr>
              <a:t>Bối cảnh &amp; vấn đề</a:t>
            </a:r>
            <a:endParaRPr lang="en-US" sz="1700" dirty="0"/>
          </a:p>
        </p:txBody>
      </p:sp>
      <p:sp>
        <p:nvSpPr>
          <p:cNvPr id="8" name="Text 6"/>
          <p:cNvSpPr/>
          <p:nvPr/>
        </p:nvSpPr>
        <p:spPr>
          <a:xfrm>
            <a:off x="4343400" y="1261872"/>
            <a:ext cx="6355080" cy="237744"/>
          </a:xfrm>
          <a:prstGeom prst="rect">
            <a:avLst/>
          </a:prstGeom>
          <a:noFill/>
          <a:ln/>
        </p:spPr>
        <p:txBody>
          <a:bodyPr wrap="square" lIns="0" tIns="0" rIns="0" bIns="0" rtlCol="0" anchor="ctr">
            <a:normAutofit/>
          </a:bodyPr>
          <a:lstStyle/>
          <a:p>
            <a:pPr indent="0" marL="0">
              <a:buNone/>
            </a:pPr>
            <a:r>
              <a:rPr lang="en-US" sz="1220" dirty="0">
                <a:solidFill>
                  <a:srgbClr val="334155"/>
                </a:solidFill>
              </a:rPr>
              <a:t>Vì sao cần GIS cho dữ liệu thời tiết TP.HCM</a:t>
            </a:r>
            <a:endParaRPr lang="en-US" sz="1220" dirty="0"/>
          </a:p>
        </p:txBody>
      </p:sp>
      <p:sp>
        <p:nvSpPr>
          <p:cNvPr id="9" name="Shape 7"/>
          <p:cNvSpPr/>
          <p:nvPr/>
        </p:nvSpPr>
        <p:spPr>
          <a:xfrm>
            <a:off x="1234440" y="1709928"/>
            <a:ext cx="9509760" cy="0"/>
          </a:xfrm>
          <a:prstGeom prst="line">
            <a:avLst/>
          </a:prstGeom>
          <a:noFill/>
          <a:ln w="10160">
            <a:solidFill>
              <a:srgbClr val="E2E8F0"/>
            </a:solidFill>
            <a:prstDash val="solid"/>
          </a:ln>
        </p:spPr>
      </p:sp>
      <p:sp>
        <p:nvSpPr>
          <p:cNvPr id="10" name="Shape 8"/>
          <p:cNvSpPr/>
          <p:nvPr/>
        </p:nvSpPr>
        <p:spPr>
          <a:xfrm>
            <a:off x="713232" y="2093976"/>
            <a:ext cx="393192" cy="393192"/>
          </a:xfrm>
          <a:prstGeom prst="ellipse">
            <a:avLst/>
          </a:prstGeom>
          <a:solidFill>
            <a:srgbClr val="0F766E"/>
          </a:solidFill>
          <a:ln w="12700">
            <a:solidFill>
              <a:srgbClr val="0F766E"/>
            </a:solidFill>
            <a:prstDash val="solid"/>
          </a:ln>
        </p:spPr>
      </p:sp>
      <p:sp>
        <p:nvSpPr>
          <p:cNvPr id="11" name="Text 9"/>
          <p:cNvSpPr/>
          <p:nvPr/>
        </p:nvSpPr>
        <p:spPr>
          <a:xfrm>
            <a:off x="713232" y="2162556"/>
            <a:ext cx="393192" cy="18288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Text 10"/>
          <p:cNvSpPr/>
          <p:nvPr/>
        </p:nvSpPr>
        <p:spPr>
          <a:xfrm>
            <a:off x="1234440" y="2075688"/>
            <a:ext cx="3017520" cy="292608"/>
          </a:xfrm>
          <a:prstGeom prst="rect">
            <a:avLst/>
          </a:prstGeom>
          <a:noFill/>
          <a:ln/>
        </p:spPr>
        <p:txBody>
          <a:bodyPr wrap="square" lIns="0" tIns="0" rIns="0" bIns="0" rtlCol="0" anchor="ctr"/>
          <a:lstStyle/>
          <a:p>
            <a:pPr indent="0" marL="0">
              <a:buNone/>
            </a:pPr>
            <a:r>
              <a:rPr lang="en-US" sz="1700" b="1" dirty="0">
                <a:solidFill>
                  <a:srgbClr val="102A43"/>
                </a:solidFill>
              </a:rPr>
              <a:t>Mô hình GIS</a:t>
            </a:r>
            <a:endParaRPr lang="en-US" sz="1700" dirty="0"/>
          </a:p>
        </p:txBody>
      </p:sp>
      <p:sp>
        <p:nvSpPr>
          <p:cNvPr id="13" name="Text 11"/>
          <p:cNvSpPr/>
          <p:nvPr/>
        </p:nvSpPr>
        <p:spPr>
          <a:xfrm>
            <a:off x="4343400" y="2103120"/>
            <a:ext cx="6355080" cy="237744"/>
          </a:xfrm>
          <a:prstGeom prst="rect">
            <a:avLst/>
          </a:prstGeom>
          <a:noFill/>
          <a:ln/>
        </p:spPr>
        <p:txBody>
          <a:bodyPr wrap="square" lIns="0" tIns="0" rIns="0" bIns="0" rtlCol="0" anchor="ctr">
            <a:normAutofit/>
          </a:bodyPr>
          <a:lstStyle/>
          <a:p>
            <a:pPr indent="0" marL="0">
              <a:buNone/>
            </a:pPr>
            <a:r>
              <a:rPr lang="en-US" sz="1220" dirty="0">
                <a:solidFill>
                  <a:srgbClr val="334155"/>
                </a:solidFill>
              </a:rPr>
              <a:t>Spaghetti 2D-T, Raster/IDW, 2.5D/3D</a:t>
            </a:r>
            <a:endParaRPr lang="en-US" sz="1220" dirty="0"/>
          </a:p>
        </p:txBody>
      </p:sp>
      <p:sp>
        <p:nvSpPr>
          <p:cNvPr id="14" name="Shape 12"/>
          <p:cNvSpPr/>
          <p:nvPr/>
        </p:nvSpPr>
        <p:spPr>
          <a:xfrm>
            <a:off x="1234440" y="2551176"/>
            <a:ext cx="9509760" cy="0"/>
          </a:xfrm>
          <a:prstGeom prst="line">
            <a:avLst/>
          </a:prstGeom>
          <a:noFill/>
          <a:ln w="10160">
            <a:solidFill>
              <a:srgbClr val="E2E8F0"/>
            </a:solidFill>
            <a:prstDash val="solid"/>
          </a:ln>
        </p:spPr>
      </p:sp>
      <p:sp>
        <p:nvSpPr>
          <p:cNvPr id="15" name="Shape 13"/>
          <p:cNvSpPr/>
          <p:nvPr/>
        </p:nvSpPr>
        <p:spPr>
          <a:xfrm>
            <a:off x="713232" y="2935224"/>
            <a:ext cx="393192" cy="393192"/>
          </a:xfrm>
          <a:prstGeom prst="ellipse">
            <a:avLst/>
          </a:prstGeom>
          <a:solidFill>
            <a:srgbClr val="F97316"/>
          </a:solidFill>
          <a:ln w="12700">
            <a:solidFill>
              <a:srgbClr val="F97316"/>
            </a:solidFill>
            <a:prstDash val="solid"/>
          </a:ln>
        </p:spPr>
      </p:sp>
      <p:sp>
        <p:nvSpPr>
          <p:cNvPr id="16" name="Text 14"/>
          <p:cNvSpPr/>
          <p:nvPr/>
        </p:nvSpPr>
        <p:spPr>
          <a:xfrm>
            <a:off x="713232" y="3003804"/>
            <a:ext cx="393192" cy="18288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7" name="Text 15"/>
          <p:cNvSpPr/>
          <p:nvPr/>
        </p:nvSpPr>
        <p:spPr>
          <a:xfrm>
            <a:off x="1234440" y="2916936"/>
            <a:ext cx="3017520" cy="292608"/>
          </a:xfrm>
          <a:prstGeom prst="rect">
            <a:avLst/>
          </a:prstGeom>
          <a:noFill/>
          <a:ln/>
        </p:spPr>
        <p:txBody>
          <a:bodyPr wrap="square" lIns="0" tIns="0" rIns="0" bIns="0" rtlCol="0" anchor="ctr"/>
          <a:lstStyle/>
          <a:p>
            <a:pPr indent="0" marL="0">
              <a:buNone/>
            </a:pPr>
            <a:r>
              <a:rPr lang="en-US" sz="1700" b="1" dirty="0">
                <a:solidFill>
                  <a:srgbClr val="102A43"/>
                </a:solidFill>
              </a:rPr>
              <a:t>Thiết kế hệ thống</a:t>
            </a:r>
            <a:endParaRPr lang="en-US" sz="1700" dirty="0"/>
          </a:p>
        </p:txBody>
      </p:sp>
      <p:sp>
        <p:nvSpPr>
          <p:cNvPr id="18" name="Text 16"/>
          <p:cNvSpPr/>
          <p:nvPr/>
        </p:nvSpPr>
        <p:spPr>
          <a:xfrm>
            <a:off x="4343400" y="2944368"/>
            <a:ext cx="6355080" cy="237744"/>
          </a:xfrm>
          <a:prstGeom prst="rect">
            <a:avLst/>
          </a:prstGeom>
          <a:noFill/>
          <a:ln/>
        </p:spPr>
        <p:txBody>
          <a:bodyPr wrap="square" lIns="0" tIns="0" rIns="0" bIns="0" rtlCol="0" anchor="ctr">
            <a:normAutofit/>
          </a:bodyPr>
          <a:lstStyle/>
          <a:p>
            <a:pPr indent="0" marL="0">
              <a:buNone/>
            </a:pPr>
            <a:r>
              <a:rPr lang="en-US" sz="1220" dirty="0">
                <a:solidFill>
                  <a:srgbClr val="334155"/>
                </a:solidFill>
              </a:rPr>
              <a:t>CSDL, ERD, DFD, Sequence, công nghệ</a:t>
            </a:r>
            <a:endParaRPr lang="en-US" sz="1220" dirty="0"/>
          </a:p>
        </p:txBody>
      </p:sp>
      <p:sp>
        <p:nvSpPr>
          <p:cNvPr id="19" name="Shape 17"/>
          <p:cNvSpPr/>
          <p:nvPr/>
        </p:nvSpPr>
        <p:spPr>
          <a:xfrm>
            <a:off x="1234440" y="3392424"/>
            <a:ext cx="9509760" cy="0"/>
          </a:xfrm>
          <a:prstGeom prst="line">
            <a:avLst/>
          </a:prstGeom>
          <a:noFill/>
          <a:ln w="10160">
            <a:solidFill>
              <a:srgbClr val="E2E8F0"/>
            </a:solidFill>
            <a:prstDash val="solid"/>
          </a:ln>
        </p:spPr>
      </p:sp>
      <p:sp>
        <p:nvSpPr>
          <p:cNvPr id="20" name="Shape 18"/>
          <p:cNvSpPr/>
          <p:nvPr/>
        </p:nvSpPr>
        <p:spPr>
          <a:xfrm>
            <a:off x="713232" y="3776472"/>
            <a:ext cx="393192" cy="393192"/>
          </a:xfrm>
          <a:prstGeom prst="ellipse">
            <a:avLst/>
          </a:prstGeom>
          <a:solidFill>
            <a:srgbClr val="16A34A"/>
          </a:solidFill>
          <a:ln w="12700">
            <a:solidFill>
              <a:srgbClr val="16A34A"/>
            </a:solidFill>
            <a:prstDash val="solid"/>
          </a:ln>
        </p:spPr>
      </p:sp>
      <p:sp>
        <p:nvSpPr>
          <p:cNvPr id="21" name="Text 19"/>
          <p:cNvSpPr/>
          <p:nvPr/>
        </p:nvSpPr>
        <p:spPr>
          <a:xfrm>
            <a:off x="713232" y="3845052"/>
            <a:ext cx="393192" cy="18288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2" name="Text 20"/>
          <p:cNvSpPr/>
          <p:nvPr/>
        </p:nvSpPr>
        <p:spPr>
          <a:xfrm>
            <a:off x="1234440" y="3758184"/>
            <a:ext cx="3017520" cy="292608"/>
          </a:xfrm>
          <a:prstGeom prst="rect">
            <a:avLst/>
          </a:prstGeom>
          <a:noFill/>
          <a:ln/>
        </p:spPr>
        <p:txBody>
          <a:bodyPr wrap="square" lIns="0" tIns="0" rIns="0" bIns="0" rtlCol="0" anchor="ctr"/>
          <a:lstStyle/>
          <a:p>
            <a:pPr indent="0" marL="0">
              <a:buNone/>
            </a:pPr>
            <a:r>
              <a:rPr lang="en-US" sz="1700" b="1" dirty="0">
                <a:solidFill>
                  <a:srgbClr val="102A43"/>
                </a:solidFill>
              </a:rPr>
              <a:t>Chức năng &amp; kết quả</a:t>
            </a:r>
            <a:endParaRPr lang="en-US" sz="1700" dirty="0"/>
          </a:p>
        </p:txBody>
      </p:sp>
      <p:sp>
        <p:nvSpPr>
          <p:cNvPr id="23" name="Text 21"/>
          <p:cNvSpPr/>
          <p:nvPr/>
        </p:nvSpPr>
        <p:spPr>
          <a:xfrm>
            <a:off x="4343400" y="3785616"/>
            <a:ext cx="6355080" cy="237744"/>
          </a:xfrm>
          <a:prstGeom prst="rect">
            <a:avLst/>
          </a:prstGeom>
          <a:noFill/>
          <a:ln/>
        </p:spPr>
        <p:txBody>
          <a:bodyPr wrap="square" lIns="0" tIns="0" rIns="0" bIns="0" rtlCol="0" anchor="ctr">
            <a:normAutofit/>
          </a:bodyPr>
          <a:lstStyle/>
          <a:p>
            <a:pPr indent="0" marL="0">
              <a:buNone/>
            </a:pPr>
            <a:r>
              <a:rPr lang="en-US" sz="1220" dirty="0">
                <a:solidFill>
                  <a:srgbClr val="334155"/>
                </a:solidFill>
              </a:rPr>
              <a:t>Bản đồ đa lớp, phân tích, dự báo, quản trị</a:t>
            </a:r>
            <a:endParaRPr lang="en-US" sz="1220" dirty="0"/>
          </a:p>
        </p:txBody>
      </p:sp>
      <p:sp>
        <p:nvSpPr>
          <p:cNvPr id="24" name="Shape 22"/>
          <p:cNvSpPr/>
          <p:nvPr/>
        </p:nvSpPr>
        <p:spPr>
          <a:xfrm>
            <a:off x="1234440" y="4233672"/>
            <a:ext cx="9509760" cy="0"/>
          </a:xfrm>
          <a:prstGeom prst="line">
            <a:avLst/>
          </a:prstGeom>
          <a:noFill/>
          <a:ln w="10160">
            <a:solidFill>
              <a:srgbClr val="E2E8F0"/>
            </a:solidFill>
            <a:prstDash val="solid"/>
          </a:ln>
        </p:spPr>
      </p:sp>
      <p:sp>
        <p:nvSpPr>
          <p:cNvPr id="25" name="Shape 23"/>
          <p:cNvSpPr/>
          <p:nvPr/>
        </p:nvSpPr>
        <p:spPr>
          <a:xfrm>
            <a:off x="713232" y="4617720"/>
            <a:ext cx="393192" cy="393192"/>
          </a:xfrm>
          <a:prstGeom prst="ellipse">
            <a:avLst/>
          </a:prstGeom>
          <a:solidFill>
            <a:srgbClr val="DC2626"/>
          </a:solidFill>
          <a:ln w="12700">
            <a:solidFill>
              <a:srgbClr val="DC2626"/>
            </a:solidFill>
            <a:prstDash val="solid"/>
          </a:ln>
        </p:spPr>
      </p:sp>
      <p:sp>
        <p:nvSpPr>
          <p:cNvPr id="26" name="Text 24"/>
          <p:cNvSpPr/>
          <p:nvPr/>
        </p:nvSpPr>
        <p:spPr>
          <a:xfrm>
            <a:off x="713232" y="4686300"/>
            <a:ext cx="393192" cy="182880"/>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7" name="Text 25"/>
          <p:cNvSpPr/>
          <p:nvPr/>
        </p:nvSpPr>
        <p:spPr>
          <a:xfrm>
            <a:off x="1234440" y="4599432"/>
            <a:ext cx="3017520" cy="292608"/>
          </a:xfrm>
          <a:prstGeom prst="rect">
            <a:avLst/>
          </a:prstGeom>
          <a:noFill/>
          <a:ln/>
        </p:spPr>
        <p:txBody>
          <a:bodyPr wrap="square" lIns="0" tIns="0" rIns="0" bIns="0" rtlCol="0" anchor="ctr"/>
          <a:lstStyle/>
          <a:p>
            <a:pPr indent="0" marL="0">
              <a:buNone/>
            </a:pPr>
            <a:r>
              <a:rPr lang="en-US" sz="1700" b="1" dirty="0">
                <a:solidFill>
                  <a:srgbClr val="102A43"/>
                </a:solidFill>
              </a:rPr>
              <a:t>Đánh giá &amp; phát triển</a:t>
            </a:r>
            <a:endParaRPr lang="en-US" sz="1700" dirty="0"/>
          </a:p>
        </p:txBody>
      </p:sp>
      <p:sp>
        <p:nvSpPr>
          <p:cNvPr id="28" name="Text 26"/>
          <p:cNvSpPr/>
          <p:nvPr/>
        </p:nvSpPr>
        <p:spPr>
          <a:xfrm>
            <a:off x="4343400" y="4626864"/>
            <a:ext cx="6355080" cy="237744"/>
          </a:xfrm>
          <a:prstGeom prst="rect">
            <a:avLst/>
          </a:prstGeom>
          <a:noFill/>
          <a:ln/>
        </p:spPr>
        <p:txBody>
          <a:bodyPr wrap="square" lIns="0" tIns="0" rIns="0" bIns="0" rtlCol="0" anchor="ctr">
            <a:normAutofit/>
          </a:bodyPr>
          <a:lstStyle/>
          <a:p>
            <a:pPr indent="0" marL="0">
              <a:buNone/>
            </a:pPr>
            <a:r>
              <a:rPr lang="en-US" sz="1220" dirty="0">
                <a:solidFill>
                  <a:srgbClr val="334155"/>
                </a:solidFill>
              </a:rPr>
              <a:t>Hạn chế, hướng mở rộng, kết luận</a:t>
            </a:r>
            <a:endParaRPr lang="en-US" sz="1220" dirty="0"/>
          </a:p>
        </p:txBody>
      </p:sp>
      <p:sp>
        <p:nvSpPr>
          <p:cNvPr id="29" name="Shape 27"/>
          <p:cNvSpPr/>
          <p:nvPr/>
        </p:nvSpPr>
        <p:spPr>
          <a:xfrm>
            <a:off x="1234440" y="5074920"/>
            <a:ext cx="9509760" cy="0"/>
          </a:xfrm>
          <a:prstGeom prst="line">
            <a:avLst/>
          </a:prstGeom>
          <a:noFill/>
          <a:ln w="10160">
            <a:solidFill>
              <a:srgbClr val="E2E8F0"/>
            </a:solidFill>
            <a:prstDash val="solid"/>
          </a:ln>
        </p:spPr>
      </p:sp>
      <p:sp>
        <p:nvSpPr>
          <p:cNvPr id="30" name="Shape 28"/>
          <p:cNvSpPr/>
          <p:nvPr/>
        </p:nvSpPr>
        <p:spPr>
          <a:xfrm>
            <a:off x="8138160" y="5440680"/>
            <a:ext cx="3063240" cy="594360"/>
          </a:xfrm>
          <a:prstGeom prst="roundRect">
            <a:avLst>
              <a:gd name="adj" fmla="val 18462"/>
            </a:avLst>
          </a:prstGeom>
          <a:solidFill>
            <a:srgbClr val="DBEAFE"/>
          </a:solidFill>
          <a:ln w="12700">
            <a:solidFill>
              <a:srgbClr val="DBEAFE"/>
            </a:solidFill>
            <a:prstDash val="solid"/>
          </a:ln>
        </p:spPr>
      </p:sp>
      <p:sp>
        <p:nvSpPr>
          <p:cNvPr id="31" name="Text 29"/>
          <p:cNvSpPr/>
          <p:nvPr/>
        </p:nvSpPr>
        <p:spPr>
          <a:xfrm>
            <a:off x="8284464" y="5632704"/>
            <a:ext cx="2743200" cy="182880"/>
          </a:xfrm>
          <a:prstGeom prst="rect">
            <a:avLst/>
          </a:prstGeom>
          <a:noFill/>
          <a:ln/>
        </p:spPr>
        <p:txBody>
          <a:bodyPr wrap="square" lIns="0" tIns="0" rIns="0" bIns="0" rtlCol="0" anchor="ctr"/>
          <a:lstStyle/>
          <a:p>
            <a:pPr algn="ctr" indent="0" marL="0">
              <a:buNone/>
            </a:pPr>
            <a:r>
              <a:rPr lang="en-US" sz="1150" b="1" dirty="0">
                <a:solidFill>
                  <a:srgbClr val="1D4ED8"/>
                </a:solidFill>
              </a:rPr>
              <a:t>Dự kiến: 16 slide / 15–20 phút</a:t>
            </a:r>
            <a:endParaRPr lang="en-US" sz="1150" dirty="0"/>
          </a:p>
        </p:txBody>
      </p:sp>
      <p:sp>
        <p:nvSpPr>
          <p:cNvPr id="32" name="Shape 30"/>
          <p:cNvSpPr/>
          <p:nvPr/>
        </p:nvSpPr>
        <p:spPr>
          <a:xfrm>
            <a:off x="502920" y="6355080"/>
            <a:ext cx="11155680" cy="0"/>
          </a:xfrm>
          <a:prstGeom prst="line">
            <a:avLst/>
          </a:prstGeom>
          <a:noFill/>
          <a:ln w="12700">
            <a:solidFill>
              <a:srgbClr val="E2E8F0"/>
            </a:solidFill>
            <a:prstDash val="solid"/>
          </a:ln>
        </p:spPr>
      </p:sp>
      <p:sp>
        <p:nvSpPr>
          <p:cNvPr id="33" name="Text 31"/>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Bối cảnh &amp; vấn đề</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Dữ liệu thời tiết không chỉ là bảng số liệu</a:t>
            </a:r>
            <a:endParaRPr lang="en-US" sz="1050" dirty="0"/>
          </a:p>
        </p:txBody>
      </p:sp>
      <p:pic>
        <p:nvPicPr>
          <p:cNvPr id="5" name="Image 0" descr="/mnt/data/doc_images/image90.png">    </p:cNvPr>
          <p:cNvPicPr>
            <a:picLocks noChangeAspect="1"/>
          </p:cNvPicPr>
          <p:nvPr/>
        </p:nvPicPr>
        <p:blipFill>
          <a:blip r:embed="rId1"/>
          <a:srcRect l="18000" r="34155" t="14000" b="14000"/>
          <a:stretch/>
        </p:blipFill>
        <p:spPr>
          <a:xfrm>
            <a:off x="6565392" y="1097280"/>
            <a:ext cx="5029200" cy="4251960"/>
          </a:xfrm>
          <a:prstGeom prst="rect">
            <a:avLst/>
          </a:prstGeom>
        </p:spPr>
      </p:pic>
      <p:sp>
        <p:nvSpPr>
          <p:cNvPr id="6" name="Shape 3"/>
          <p:cNvSpPr/>
          <p:nvPr/>
        </p:nvSpPr>
        <p:spPr>
          <a:xfrm>
            <a:off x="6355080" y="5468112"/>
            <a:ext cx="5376672" cy="585216"/>
          </a:xfrm>
          <a:prstGeom prst="roundRect">
            <a:avLst>
              <a:gd name="adj" fmla="val 18750"/>
            </a:avLst>
          </a:prstGeom>
          <a:solidFill>
            <a:srgbClr val="102A43"/>
          </a:solidFill>
          <a:ln w="12700">
            <a:solidFill>
              <a:srgbClr val="102A43"/>
            </a:solidFill>
            <a:prstDash val="solid"/>
          </a:ln>
        </p:spPr>
      </p:sp>
      <p:sp>
        <p:nvSpPr>
          <p:cNvPr id="7" name="Text 4"/>
          <p:cNvSpPr/>
          <p:nvPr/>
        </p:nvSpPr>
        <p:spPr>
          <a:xfrm>
            <a:off x="6510528" y="5641848"/>
            <a:ext cx="5029200" cy="228600"/>
          </a:xfrm>
          <a:prstGeom prst="rect">
            <a:avLst/>
          </a:prstGeom>
          <a:noFill/>
          <a:ln/>
        </p:spPr>
        <p:txBody>
          <a:bodyPr wrap="square" lIns="0" tIns="0" rIns="0" bIns="0" rtlCol="0" anchor="ctr">
            <a:normAutofit/>
          </a:bodyPr>
          <a:lstStyle/>
          <a:p>
            <a:pPr indent="0" marL="0">
              <a:buNone/>
            </a:pPr>
            <a:r>
              <a:rPr lang="en-US" sz="1160" dirty="0">
                <a:solidFill>
                  <a:srgbClr val="FFFFFF"/>
                </a:solidFill>
              </a:rPr>
              <a:t>Thời tiết có tính không gian - thời gian: vị trí khác nhau, thời điểm khác nhau → giá trị khác nhau.</a:t>
            </a:r>
            <a:endParaRPr lang="en-US" sz="1160" dirty="0"/>
          </a:p>
        </p:txBody>
      </p:sp>
      <p:sp>
        <p:nvSpPr>
          <p:cNvPr id="8" name="Text 5"/>
          <p:cNvSpPr/>
          <p:nvPr/>
        </p:nvSpPr>
        <p:spPr>
          <a:xfrm>
            <a:off x="685800" y="1143000"/>
            <a:ext cx="3840480" cy="310896"/>
          </a:xfrm>
          <a:prstGeom prst="rect">
            <a:avLst/>
          </a:prstGeom>
          <a:noFill/>
          <a:ln/>
        </p:spPr>
        <p:txBody>
          <a:bodyPr wrap="square" lIns="0" tIns="0" rIns="0" bIns="0" rtlCol="0" anchor="ctr"/>
          <a:lstStyle/>
          <a:p>
            <a:pPr indent="0" marL="0">
              <a:buNone/>
            </a:pPr>
            <a:r>
              <a:rPr lang="en-US" sz="2000" b="1" dirty="0">
                <a:solidFill>
                  <a:srgbClr val="102A43"/>
                </a:solidFill>
              </a:rPr>
              <a:t>Vấn đề chính</a:t>
            </a:r>
            <a:endParaRPr lang="en-US" sz="2000" dirty="0"/>
          </a:p>
        </p:txBody>
      </p:sp>
      <p:sp>
        <p:nvSpPr>
          <p:cNvPr id="9" name="Text 6"/>
          <p:cNvSpPr/>
          <p:nvPr/>
        </p:nvSpPr>
        <p:spPr>
          <a:xfrm>
            <a:off x="731520" y="1645920"/>
            <a:ext cx="5212080" cy="2377440"/>
          </a:xfrm>
          <a:prstGeom prst="rect">
            <a:avLst/>
          </a:prstGeom>
          <a:noFill/>
          <a:ln/>
        </p:spPr>
        <p:txBody>
          <a:bodyPr wrap="square" lIns="508" tIns="508" rIns="508" bIns="508" rtlCol="0" anchor="ctr">
            <a:normAutofit/>
          </a:bodyPr>
          <a:lstStyle/>
          <a:p>
            <a:pPr marL="177800" indent="-177800">
              <a:buSzPct val="100000"/>
              <a:buChar char="•"/>
            </a:pPr>
            <a:r>
              <a:rPr lang="en-US" sz="1550" dirty="0">
                <a:solidFill>
                  <a:srgbClr val="334155"/>
                </a:solidFill>
              </a:rPr>
              <a:t>Ứng dụng thời tiết phổ thông thường hiển thị theo một điểm hoặc một vùng chung.</a:t>
            </a:r>
            <a:endParaRPr lang="en-US" sz="1550" dirty="0"/>
          </a:p>
          <a:p>
            <a:pPr marL="177800" indent="-177800">
              <a:buSzPct val="100000"/>
              <a:buChar char="•"/>
            </a:pPr>
            <a:r>
              <a:rPr lang="en-US" sz="1550" dirty="0">
                <a:solidFill>
                  <a:srgbClr val="334155"/>
                </a:solidFill>
              </a:rPr>
              <a:t>Khó thấy sự phân bố nhiệt độ, mưa, độ ẩm giữa các khu vực trong TP.HCM.</a:t>
            </a:r>
            <a:endParaRPr lang="en-US" sz="1550" dirty="0"/>
          </a:p>
          <a:p>
            <a:pPr marL="177800" indent="-177800">
              <a:buSzPct val="100000"/>
              <a:buChar char="•"/>
            </a:pPr>
            <a:r>
              <a:rPr lang="en-US" sz="1550" dirty="0">
                <a:solidFill>
                  <a:srgbClr val="334155"/>
                </a:solidFill>
              </a:rPr>
              <a:t>Thiếu khả năng quan sát biến động theo thời gian trên bản đồ.</a:t>
            </a:r>
            <a:endParaRPr lang="en-US" sz="1550" dirty="0"/>
          </a:p>
          <a:p>
            <a:pPr marL="177800" indent="-177800">
              <a:buSzPct val="100000"/>
              <a:buChar char="•"/>
            </a:pPr>
            <a:r>
              <a:rPr lang="en-US" sz="1550" dirty="0">
                <a:solidFill>
                  <a:srgbClr val="334155"/>
                </a:solidFill>
              </a:rPr>
              <a:t>Chưa khai thác tốt bản đồ nhiệt, lưới nội suy và trực quan 3D.</a:t>
            </a:r>
            <a:endParaRPr lang="en-US" sz="1550" dirty="0"/>
          </a:p>
        </p:txBody>
      </p:sp>
      <p:sp>
        <p:nvSpPr>
          <p:cNvPr id="10" name="Shape 7"/>
          <p:cNvSpPr/>
          <p:nvPr/>
        </p:nvSpPr>
        <p:spPr>
          <a:xfrm>
            <a:off x="731520" y="4343400"/>
            <a:ext cx="5257800" cy="1143000"/>
          </a:xfrm>
          <a:prstGeom prst="roundRect">
            <a:avLst>
              <a:gd name="adj" fmla="val 9600"/>
            </a:avLst>
          </a:prstGeom>
          <a:solidFill>
            <a:srgbClr val="FFFFFF"/>
          </a:solidFill>
          <a:ln w="12700">
            <a:solidFill>
              <a:srgbClr val="E2E8F0"/>
            </a:solidFill>
            <a:prstDash val="solid"/>
          </a:ln>
        </p:spPr>
      </p:sp>
      <p:sp>
        <p:nvSpPr>
          <p:cNvPr id="11" name="Shape 8"/>
          <p:cNvSpPr/>
          <p:nvPr/>
        </p:nvSpPr>
        <p:spPr>
          <a:xfrm>
            <a:off x="731520" y="4343400"/>
            <a:ext cx="64008" cy="1143000"/>
          </a:xfrm>
          <a:prstGeom prst="rect">
            <a:avLst/>
          </a:prstGeom>
          <a:solidFill>
            <a:srgbClr val="F97316"/>
          </a:solidFill>
          <a:ln w="12700">
            <a:solidFill>
              <a:srgbClr val="F97316"/>
            </a:solidFill>
            <a:prstDash val="solid"/>
          </a:ln>
        </p:spPr>
      </p:sp>
      <p:sp>
        <p:nvSpPr>
          <p:cNvPr id="12" name="Text 9"/>
          <p:cNvSpPr/>
          <p:nvPr/>
        </p:nvSpPr>
        <p:spPr>
          <a:xfrm>
            <a:off x="932688" y="4507992"/>
            <a:ext cx="4937760" cy="256032"/>
          </a:xfrm>
          <a:prstGeom prst="rect">
            <a:avLst/>
          </a:prstGeom>
          <a:noFill/>
          <a:ln/>
        </p:spPr>
        <p:txBody>
          <a:bodyPr wrap="square" lIns="0" tIns="0" rIns="0" bIns="0" rtlCol="0" anchor="ctr">
            <a:normAutofit/>
          </a:bodyPr>
          <a:lstStyle/>
          <a:p>
            <a:pPr indent="0" marL="0">
              <a:buNone/>
            </a:pPr>
            <a:r>
              <a:rPr lang="en-US" sz="1400" b="1" dirty="0">
                <a:solidFill>
                  <a:srgbClr val="F97316"/>
                </a:solidFill>
              </a:rPr>
              <a:t>Nhu cầu</a:t>
            </a:r>
            <a:endParaRPr lang="en-US" sz="1400" dirty="0"/>
          </a:p>
        </p:txBody>
      </p:sp>
      <p:sp>
        <p:nvSpPr>
          <p:cNvPr id="13" name="Text 10"/>
          <p:cNvSpPr/>
          <p:nvPr/>
        </p:nvSpPr>
        <p:spPr>
          <a:xfrm>
            <a:off x="932688" y="4846320"/>
            <a:ext cx="4937760" cy="57607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Một WebGIS giúp thu thập, lưu trữ, hiển thị, phân tích và dự báo thời tiết theo vị trí + thời gian.</a:t>
            </a:r>
            <a:endParaRPr lang="en-US" sz="1150" dirty="0"/>
          </a:p>
        </p:txBody>
      </p:sp>
      <p:sp>
        <p:nvSpPr>
          <p:cNvPr id="14" name="Shape 11"/>
          <p:cNvSpPr/>
          <p:nvPr/>
        </p:nvSpPr>
        <p:spPr>
          <a:xfrm>
            <a:off x="502920" y="6355080"/>
            <a:ext cx="11155680" cy="0"/>
          </a:xfrm>
          <a:prstGeom prst="line">
            <a:avLst/>
          </a:prstGeom>
          <a:noFill/>
          <a:ln w="12700">
            <a:solidFill>
              <a:srgbClr val="E2E8F0"/>
            </a:solidFill>
            <a:prstDash val="solid"/>
          </a:ln>
        </p:spPr>
      </p:sp>
      <p:sp>
        <p:nvSpPr>
          <p:cNvPr id="15" name="Text 12"/>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Mục tiêu của hệ thống</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Xây dựng một chu trình khép kín từ dữ liệu đến quyết định</a:t>
            </a:r>
            <a:endParaRPr lang="en-US" sz="1050" dirty="0"/>
          </a:p>
        </p:txBody>
      </p:sp>
      <p:sp>
        <p:nvSpPr>
          <p:cNvPr id="5" name="Shape 3"/>
          <p:cNvSpPr/>
          <p:nvPr/>
        </p:nvSpPr>
        <p:spPr>
          <a:xfrm>
            <a:off x="502920" y="1371600"/>
            <a:ext cx="1874520" cy="1874520"/>
          </a:xfrm>
          <a:prstGeom prst="roundRect">
            <a:avLst>
              <a:gd name="adj" fmla="val 5854"/>
            </a:avLst>
          </a:prstGeom>
          <a:solidFill>
            <a:srgbClr val="FFFFFF"/>
          </a:solidFill>
          <a:ln w="12700">
            <a:solidFill>
              <a:srgbClr val="E2E8F0"/>
            </a:solidFill>
            <a:prstDash val="solid"/>
          </a:ln>
        </p:spPr>
      </p:sp>
      <p:sp>
        <p:nvSpPr>
          <p:cNvPr id="6" name="Shape 4"/>
          <p:cNvSpPr/>
          <p:nvPr/>
        </p:nvSpPr>
        <p:spPr>
          <a:xfrm>
            <a:off x="502920" y="1371600"/>
            <a:ext cx="64008" cy="1874520"/>
          </a:xfrm>
          <a:prstGeom prst="rect">
            <a:avLst/>
          </a:prstGeom>
          <a:solidFill>
            <a:srgbClr val="1D4ED8"/>
          </a:solidFill>
          <a:ln w="12700">
            <a:solidFill>
              <a:srgbClr val="1D4ED8"/>
            </a:solidFill>
            <a:prstDash val="solid"/>
          </a:ln>
        </p:spPr>
      </p:sp>
      <p:sp>
        <p:nvSpPr>
          <p:cNvPr id="7" name="Text 5"/>
          <p:cNvSpPr/>
          <p:nvPr/>
        </p:nvSpPr>
        <p:spPr>
          <a:xfrm>
            <a:off x="704088" y="1536192"/>
            <a:ext cx="1554480" cy="256032"/>
          </a:xfrm>
          <a:prstGeom prst="rect">
            <a:avLst/>
          </a:prstGeom>
          <a:noFill/>
          <a:ln/>
        </p:spPr>
        <p:txBody>
          <a:bodyPr wrap="square" lIns="0" tIns="0" rIns="0" bIns="0" rtlCol="0" anchor="ctr">
            <a:normAutofit/>
          </a:bodyPr>
          <a:lstStyle/>
          <a:p>
            <a:pPr indent="0" marL="0">
              <a:buNone/>
            </a:pPr>
            <a:r>
              <a:rPr lang="en-US" sz="1400" b="1" dirty="0">
                <a:solidFill>
                  <a:srgbClr val="1D4ED8"/>
                </a:solidFill>
              </a:rPr>
              <a:t>Thu thập</a:t>
            </a:r>
            <a:endParaRPr lang="en-US" sz="1400" dirty="0"/>
          </a:p>
        </p:txBody>
      </p:sp>
      <p:sp>
        <p:nvSpPr>
          <p:cNvPr id="8" name="Text 6"/>
          <p:cNvSpPr/>
          <p:nvPr/>
        </p:nvSpPr>
        <p:spPr>
          <a:xfrm>
            <a:off x="704088" y="1874520"/>
            <a:ext cx="1554480" cy="130759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API thời tiết</a:t>
            </a:r>
            <a:endParaRPr lang="en-US" sz="1150" dirty="0"/>
          </a:p>
          <a:p>
            <a:pPr indent="0" marL="0">
              <a:buNone/>
            </a:pPr>
            <a:r>
              <a:rPr lang="en-US" sz="1150" dirty="0">
                <a:solidFill>
                  <a:srgbClr val="334155"/>
                </a:solidFill>
              </a:rPr>
              <a:t>Open-Meteo / Visual Crossing</a:t>
            </a:r>
            <a:endParaRPr lang="en-US" sz="1150" dirty="0"/>
          </a:p>
        </p:txBody>
      </p:sp>
      <p:sp>
        <p:nvSpPr>
          <p:cNvPr id="9" name="Shape 7"/>
          <p:cNvSpPr/>
          <p:nvPr/>
        </p:nvSpPr>
        <p:spPr>
          <a:xfrm>
            <a:off x="1161288" y="914400"/>
            <a:ext cx="393192" cy="393192"/>
          </a:xfrm>
          <a:prstGeom prst="ellipse">
            <a:avLst/>
          </a:prstGeom>
          <a:solidFill>
            <a:srgbClr val="1D4ED8"/>
          </a:solidFill>
          <a:ln w="12700">
            <a:solidFill>
              <a:srgbClr val="1D4ED8"/>
            </a:solidFill>
            <a:prstDash val="solid"/>
          </a:ln>
        </p:spPr>
      </p:sp>
      <p:sp>
        <p:nvSpPr>
          <p:cNvPr id="10" name="Text 8"/>
          <p:cNvSpPr/>
          <p:nvPr/>
        </p:nvSpPr>
        <p:spPr>
          <a:xfrm>
            <a:off x="1161288" y="982980"/>
            <a:ext cx="393192" cy="18288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Shape 9"/>
          <p:cNvSpPr/>
          <p:nvPr/>
        </p:nvSpPr>
        <p:spPr>
          <a:xfrm>
            <a:off x="2404872" y="2304288"/>
            <a:ext cx="301752" cy="0"/>
          </a:xfrm>
          <a:prstGeom prst="line">
            <a:avLst/>
          </a:prstGeom>
          <a:noFill/>
          <a:ln w="22860">
            <a:solidFill>
              <a:srgbClr val="CBD5E1"/>
            </a:solidFill>
            <a:prstDash val="solid"/>
            <a:headEnd type="none"/>
            <a:tailEnd type="triangle"/>
          </a:ln>
        </p:spPr>
      </p:sp>
      <p:sp>
        <p:nvSpPr>
          <p:cNvPr id="12" name="Shape 10"/>
          <p:cNvSpPr/>
          <p:nvPr/>
        </p:nvSpPr>
        <p:spPr>
          <a:xfrm>
            <a:off x="2816352" y="1371600"/>
            <a:ext cx="1874520" cy="1874520"/>
          </a:xfrm>
          <a:prstGeom prst="roundRect">
            <a:avLst>
              <a:gd name="adj" fmla="val 5854"/>
            </a:avLst>
          </a:prstGeom>
          <a:solidFill>
            <a:srgbClr val="FFFFFF"/>
          </a:solidFill>
          <a:ln w="12700">
            <a:solidFill>
              <a:srgbClr val="E2E8F0"/>
            </a:solidFill>
            <a:prstDash val="solid"/>
          </a:ln>
        </p:spPr>
      </p:sp>
      <p:sp>
        <p:nvSpPr>
          <p:cNvPr id="13" name="Shape 11"/>
          <p:cNvSpPr/>
          <p:nvPr/>
        </p:nvSpPr>
        <p:spPr>
          <a:xfrm>
            <a:off x="2816352" y="1371600"/>
            <a:ext cx="64008" cy="1874520"/>
          </a:xfrm>
          <a:prstGeom prst="rect">
            <a:avLst/>
          </a:prstGeom>
          <a:solidFill>
            <a:srgbClr val="0F766E"/>
          </a:solidFill>
          <a:ln w="12700">
            <a:solidFill>
              <a:srgbClr val="0F766E"/>
            </a:solidFill>
            <a:prstDash val="solid"/>
          </a:ln>
        </p:spPr>
      </p:sp>
      <p:sp>
        <p:nvSpPr>
          <p:cNvPr id="14" name="Text 12"/>
          <p:cNvSpPr/>
          <p:nvPr/>
        </p:nvSpPr>
        <p:spPr>
          <a:xfrm>
            <a:off x="3017520" y="1536192"/>
            <a:ext cx="1554480" cy="256032"/>
          </a:xfrm>
          <a:prstGeom prst="rect">
            <a:avLst/>
          </a:prstGeom>
          <a:noFill/>
          <a:ln/>
        </p:spPr>
        <p:txBody>
          <a:bodyPr wrap="square" lIns="0" tIns="0" rIns="0" bIns="0" rtlCol="0" anchor="ctr">
            <a:normAutofit/>
          </a:bodyPr>
          <a:lstStyle/>
          <a:p>
            <a:pPr indent="0" marL="0">
              <a:buNone/>
            </a:pPr>
            <a:r>
              <a:rPr lang="en-US" sz="1400" b="1" dirty="0">
                <a:solidFill>
                  <a:srgbClr val="0F766E"/>
                </a:solidFill>
              </a:rPr>
              <a:t>Lưu trữ</a:t>
            </a:r>
            <a:endParaRPr lang="en-US" sz="1400" dirty="0"/>
          </a:p>
        </p:txBody>
      </p:sp>
      <p:sp>
        <p:nvSpPr>
          <p:cNvPr id="15" name="Text 13"/>
          <p:cNvSpPr/>
          <p:nvPr/>
        </p:nvSpPr>
        <p:spPr>
          <a:xfrm>
            <a:off x="3017520" y="1874520"/>
            <a:ext cx="1554480" cy="130759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PostgreSQL/PostGIS</a:t>
            </a:r>
            <a:endParaRPr lang="en-US" sz="1150" dirty="0"/>
          </a:p>
          <a:p>
            <a:pPr indent="0" marL="0">
              <a:buNone/>
            </a:pPr>
            <a:r>
              <a:rPr lang="en-US" sz="1150" dirty="0">
                <a:solidFill>
                  <a:srgbClr val="334155"/>
                </a:solidFill>
              </a:rPr>
              <a:t>Point, Polygon, Time-series</a:t>
            </a:r>
            <a:endParaRPr lang="en-US" sz="1150" dirty="0"/>
          </a:p>
        </p:txBody>
      </p:sp>
      <p:sp>
        <p:nvSpPr>
          <p:cNvPr id="16" name="Shape 14"/>
          <p:cNvSpPr/>
          <p:nvPr/>
        </p:nvSpPr>
        <p:spPr>
          <a:xfrm>
            <a:off x="3474720" y="914400"/>
            <a:ext cx="393192" cy="393192"/>
          </a:xfrm>
          <a:prstGeom prst="ellipse">
            <a:avLst/>
          </a:prstGeom>
          <a:solidFill>
            <a:srgbClr val="0F766E"/>
          </a:solidFill>
          <a:ln w="12700">
            <a:solidFill>
              <a:srgbClr val="0F766E"/>
            </a:solidFill>
            <a:prstDash val="solid"/>
          </a:ln>
        </p:spPr>
      </p:sp>
      <p:sp>
        <p:nvSpPr>
          <p:cNvPr id="17" name="Text 15"/>
          <p:cNvSpPr/>
          <p:nvPr/>
        </p:nvSpPr>
        <p:spPr>
          <a:xfrm>
            <a:off x="3474720" y="982980"/>
            <a:ext cx="393192" cy="18288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8" name="Shape 16"/>
          <p:cNvSpPr/>
          <p:nvPr/>
        </p:nvSpPr>
        <p:spPr>
          <a:xfrm>
            <a:off x="4718304" y="2304288"/>
            <a:ext cx="310896" cy="0"/>
          </a:xfrm>
          <a:prstGeom prst="line">
            <a:avLst/>
          </a:prstGeom>
          <a:noFill/>
          <a:ln w="22860">
            <a:solidFill>
              <a:srgbClr val="CBD5E1"/>
            </a:solidFill>
            <a:prstDash val="solid"/>
            <a:headEnd type="none"/>
            <a:tailEnd type="triangle"/>
          </a:ln>
        </p:spPr>
      </p:sp>
      <p:sp>
        <p:nvSpPr>
          <p:cNvPr id="19" name="Shape 17"/>
          <p:cNvSpPr/>
          <p:nvPr/>
        </p:nvSpPr>
        <p:spPr>
          <a:xfrm>
            <a:off x="5138928" y="1371600"/>
            <a:ext cx="1874520" cy="1874520"/>
          </a:xfrm>
          <a:prstGeom prst="roundRect">
            <a:avLst>
              <a:gd name="adj" fmla="val 5854"/>
            </a:avLst>
          </a:prstGeom>
          <a:solidFill>
            <a:srgbClr val="FFFFFF"/>
          </a:solidFill>
          <a:ln w="12700">
            <a:solidFill>
              <a:srgbClr val="E2E8F0"/>
            </a:solidFill>
            <a:prstDash val="solid"/>
          </a:ln>
        </p:spPr>
      </p:sp>
      <p:sp>
        <p:nvSpPr>
          <p:cNvPr id="20" name="Shape 18"/>
          <p:cNvSpPr/>
          <p:nvPr/>
        </p:nvSpPr>
        <p:spPr>
          <a:xfrm>
            <a:off x="5138928" y="1371600"/>
            <a:ext cx="64008" cy="1874520"/>
          </a:xfrm>
          <a:prstGeom prst="rect">
            <a:avLst/>
          </a:prstGeom>
          <a:solidFill>
            <a:srgbClr val="F97316"/>
          </a:solidFill>
          <a:ln w="12700">
            <a:solidFill>
              <a:srgbClr val="F97316"/>
            </a:solidFill>
            <a:prstDash val="solid"/>
          </a:ln>
        </p:spPr>
      </p:sp>
      <p:sp>
        <p:nvSpPr>
          <p:cNvPr id="21" name="Text 19"/>
          <p:cNvSpPr/>
          <p:nvPr/>
        </p:nvSpPr>
        <p:spPr>
          <a:xfrm>
            <a:off x="5340096" y="1536192"/>
            <a:ext cx="1554480" cy="256032"/>
          </a:xfrm>
          <a:prstGeom prst="rect">
            <a:avLst/>
          </a:prstGeom>
          <a:noFill/>
          <a:ln/>
        </p:spPr>
        <p:txBody>
          <a:bodyPr wrap="square" lIns="0" tIns="0" rIns="0" bIns="0" rtlCol="0" anchor="ctr">
            <a:normAutofit/>
          </a:bodyPr>
          <a:lstStyle/>
          <a:p>
            <a:pPr indent="0" marL="0">
              <a:buNone/>
            </a:pPr>
            <a:r>
              <a:rPr lang="en-US" sz="1400" b="1" dirty="0">
                <a:solidFill>
                  <a:srgbClr val="F97316"/>
                </a:solidFill>
              </a:rPr>
              <a:t>Trực quan</a:t>
            </a:r>
            <a:endParaRPr lang="en-US" sz="1400" dirty="0"/>
          </a:p>
        </p:txBody>
      </p:sp>
      <p:sp>
        <p:nvSpPr>
          <p:cNvPr id="22" name="Text 20"/>
          <p:cNvSpPr/>
          <p:nvPr/>
        </p:nvSpPr>
        <p:spPr>
          <a:xfrm>
            <a:off x="5340096" y="1874520"/>
            <a:ext cx="1554480" cy="130759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Marker, Heatmap, Grid,</a:t>
            </a:r>
            <a:endParaRPr lang="en-US" sz="1150" dirty="0"/>
          </a:p>
          <a:p>
            <a:pPr indent="0" marL="0">
              <a:buNone/>
            </a:pPr>
            <a:r>
              <a:rPr lang="en-US" sz="1150" dirty="0">
                <a:solidFill>
                  <a:srgbClr val="334155"/>
                </a:solidFill>
              </a:rPr>
              <a:t>Choropleth, 3D Bar</a:t>
            </a:r>
            <a:endParaRPr lang="en-US" sz="1150" dirty="0"/>
          </a:p>
        </p:txBody>
      </p:sp>
      <p:sp>
        <p:nvSpPr>
          <p:cNvPr id="23" name="Shape 21"/>
          <p:cNvSpPr/>
          <p:nvPr/>
        </p:nvSpPr>
        <p:spPr>
          <a:xfrm>
            <a:off x="5797296" y="914400"/>
            <a:ext cx="393192" cy="393192"/>
          </a:xfrm>
          <a:prstGeom prst="ellipse">
            <a:avLst/>
          </a:prstGeom>
          <a:solidFill>
            <a:srgbClr val="F97316"/>
          </a:solidFill>
          <a:ln w="12700">
            <a:solidFill>
              <a:srgbClr val="F97316"/>
            </a:solidFill>
            <a:prstDash val="solid"/>
          </a:ln>
        </p:spPr>
      </p:sp>
      <p:sp>
        <p:nvSpPr>
          <p:cNvPr id="24" name="Text 22"/>
          <p:cNvSpPr/>
          <p:nvPr/>
        </p:nvSpPr>
        <p:spPr>
          <a:xfrm>
            <a:off x="5797296" y="982980"/>
            <a:ext cx="393192" cy="18288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5" name="Shape 23"/>
          <p:cNvSpPr/>
          <p:nvPr/>
        </p:nvSpPr>
        <p:spPr>
          <a:xfrm>
            <a:off x="7040880" y="2304288"/>
            <a:ext cx="301752" cy="0"/>
          </a:xfrm>
          <a:prstGeom prst="line">
            <a:avLst/>
          </a:prstGeom>
          <a:noFill/>
          <a:ln w="22860">
            <a:solidFill>
              <a:srgbClr val="CBD5E1"/>
            </a:solidFill>
            <a:prstDash val="solid"/>
            <a:headEnd type="none"/>
            <a:tailEnd type="triangle"/>
          </a:ln>
        </p:spPr>
      </p:sp>
      <p:sp>
        <p:nvSpPr>
          <p:cNvPr id="26" name="Shape 24"/>
          <p:cNvSpPr/>
          <p:nvPr/>
        </p:nvSpPr>
        <p:spPr>
          <a:xfrm>
            <a:off x="7452360" y="1371600"/>
            <a:ext cx="1874520" cy="1874520"/>
          </a:xfrm>
          <a:prstGeom prst="roundRect">
            <a:avLst>
              <a:gd name="adj" fmla="val 5854"/>
            </a:avLst>
          </a:prstGeom>
          <a:solidFill>
            <a:srgbClr val="FFFFFF"/>
          </a:solidFill>
          <a:ln w="12700">
            <a:solidFill>
              <a:srgbClr val="E2E8F0"/>
            </a:solidFill>
            <a:prstDash val="solid"/>
          </a:ln>
        </p:spPr>
      </p:sp>
      <p:sp>
        <p:nvSpPr>
          <p:cNvPr id="27" name="Shape 25"/>
          <p:cNvSpPr/>
          <p:nvPr/>
        </p:nvSpPr>
        <p:spPr>
          <a:xfrm>
            <a:off x="7452360" y="1371600"/>
            <a:ext cx="64008" cy="1874520"/>
          </a:xfrm>
          <a:prstGeom prst="rect">
            <a:avLst/>
          </a:prstGeom>
          <a:solidFill>
            <a:srgbClr val="16A34A"/>
          </a:solidFill>
          <a:ln w="12700">
            <a:solidFill>
              <a:srgbClr val="16A34A"/>
            </a:solidFill>
            <a:prstDash val="solid"/>
          </a:ln>
        </p:spPr>
      </p:sp>
      <p:sp>
        <p:nvSpPr>
          <p:cNvPr id="28" name="Text 26"/>
          <p:cNvSpPr/>
          <p:nvPr/>
        </p:nvSpPr>
        <p:spPr>
          <a:xfrm>
            <a:off x="7653528" y="1536192"/>
            <a:ext cx="1554480" cy="256032"/>
          </a:xfrm>
          <a:prstGeom prst="rect">
            <a:avLst/>
          </a:prstGeom>
          <a:noFill/>
          <a:ln/>
        </p:spPr>
        <p:txBody>
          <a:bodyPr wrap="square" lIns="0" tIns="0" rIns="0" bIns="0" rtlCol="0" anchor="ctr">
            <a:normAutofit/>
          </a:bodyPr>
          <a:lstStyle/>
          <a:p>
            <a:pPr indent="0" marL="0">
              <a:buNone/>
            </a:pPr>
            <a:r>
              <a:rPr lang="en-US" sz="1400" b="1" dirty="0">
                <a:solidFill>
                  <a:srgbClr val="16A34A"/>
                </a:solidFill>
              </a:rPr>
              <a:t>Phân tích</a:t>
            </a:r>
            <a:endParaRPr lang="en-US" sz="1400" dirty="0"/>
          </a:p>
        </p:txBody>
      </p:sp>
      <p:sp>
        <p:nvSpPr>
          <p:cNvPr id="29" name="Text 27"/>
          <p:cNvSpPr/>
          <p:nvPr/>
        </p:nvSpPr>
        <p:spPr>
          <a:xfrm>
            <a:off x="7653528" y="1874520"/>
            <a:ext cx="1554480" cy="130759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Thống kê, so sánh,</a:t>
            </a:r>
            <a:endParaRPr lang="en-US" sz="1150" dirty="0"/>
          </a:p>
          <a:p>
            <a:pPr indent="0" marL="0">
              <a:buNone/>
            </a:pPr>
            <a:r>
              <a:rPr lang="en-US" sz="1150" dirty="0">
                <a:solidFill>
                  <a:srgbClr val="334155"/>
                </a:solidFill>
              </a:rPr>
              <a:t>IDW, chỉ số tiện nghi</a:t>
            </a:r>
            <a:endParaRPr lang="en-US" sz="1150" dirty="0"/>
          </a:p>
        </p:txBody>
      </p:sp>
      <p:sp>
        <p:nvSpPr>
          <p:cNvPr id="30" name="Shape 28"/>
          <p:cNvSpPr/>
          <p:nvPr/>
        </p:nvSpPr>
        <p:spPr>
          <a:xfrm>
            <a:off x="8110728" y="914400"/>
            <a:ext cx="393192" cy="393192"/>
          </a:xfrm>
          <a:prstGeom prst="ellipse">
            <a:avLst/>
          </a:prstGeom>
          <a:solidFill>
            <a:srgbClr val="16A34A"/>
          </a:solidFill>
          <a:ln w="12700">
            <a:solidFill>
              <a:srgbClr val="16A34A"/>
            </a:solidFill>
            <a:prstDash val="solid"/>
          </a:ln>
        </p:spPr>
      </p:sp>
      <p:sp>
        <p:nvSpPr>
          <p:cNvPr id="31" name="Text 29"/>
          <p:cNvSpPr/>
          <p:nvPr/>
        </p:nvSpPr>
        <p:spPr>
          <a:xfrm>
            <a:off x="8110728" y="982980"/>
            <a:ext cx="393192" cy="18288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32" name="Shape 30"/>
          <p:cNvSpPr/>
          <p:nvPr/>
        </p:nvSpPr>
        <p:spPr>
          <a:xfrm>
            <a:off x="9354312" y="2304288"/>
            <a:ext cx="301752" cy="0"/>
          </a:xfrm>
          <a:prstGeom prst="line">
            <a:avLst/>
          </a:prstGeom>
          <a:noFill/>
          <a:ln w="22860">
            <a:solidFill>
              <a:srgbClr val="CBD5E1"/>
            </a:solidFill>
            <a:prstDash val="solid"/>
            <a:headEnd type="none"/>
            <a:tailEnd type="triangle"/>
          </a:ln>
        </p:spPr>
      </p:sp>
      <p:sp>
        <p:nvSpPr>
          <p:cNvPr id="33" name="Shape 31"/>
          <p:cNvSpPr/>
          <p:nvPr/>
        </p:nvSpPr>
        <p:spPr>
          <a:xfrm>
            <a:off x="9765792" y="1371600"/>
            <a:ext cx="1874520" cy="1874520"/>
          </a:xfrm>
          <a:prstGeom prst="roundRect">
            <a:avLst>
              <a:gd name="adj" fmla="val 5854"/>
            </a:avLst>
          </a:prstGeom>
          <a:solidFill>
            <a:srgbClr val="FFFFFF"/>
          </a:solidFill>
          <a:ln w="12700">
            <a:solidFill>
              <a:srgbClr val="E2E8F0"/>
            </a:solidFill>
            <a:prstDash val="solid"/>
          </a:ln>
        </p:spPr>
      </p:sp>
      <p:sp>
        <p:nvSpPr>
          <p:cNvPr id="34" name="Shape 32"/>
          <p:cNvSpPr/>
          <p:nvPr/>
        </p:nvSpPr>
        <p:spPr>
          <a:xfrm>
            <a:off x="9765792" y="1371600"/>
            <a:ext cx="64008" cy="1874520"/>
          </a:xfrm>
          <a:prstGeom prst="rect">
            <a:avLst/>
          </a:prstGeom>
          <a:solidFill>
            <a:srgbClr val="DC2626"/>
          </a:solidFill>
          <a:ln w="12700">
            <a:solidFill>
              <a:srgbClr val="DC2626"/>
            </a:solidFill>
            <a:prstDash val="solid"/>
          </a:ln>
        </p:spPr>
      </p:sp>
      <p:sp>
        <p:nvSpPr>
          <p:cNvPr id="35" name="Text 33"/>
          <p:cNvSpPr/>
          <p:nvPr/>
        </p:nvSpPr>
        <p:spPr>
          <a:xfrm>
            <a:off x="9966960" y="1536192"/>
            <a:ext cx="1554480" cy="256032"/>
          </a:xfrm>
          <a:prstGeom prst="rect">
            <a:avLst/>
          </a:prstGeom>
          <a:noFill/>
          <a:ln/>
        </p:spPr>
        <p:txBody>
          <a:bodyPr wrap="square" lIns="0" tIns="0" rIns="0" bIns="0" rtlCol="0" anchor="ctr">
            <a:normAutofit/>
          </a:bodyPr>
          <a:lstStyle/>
          <a:p>
            <a:pPr indent="0" marL="0">
              <a:buNone/>
            </a:pPr>
            <a:r>
              <a:rPr lang="en-US" sz="1400" b="1" dirty="0">
                <a:solidFill>
                  <a:srgbClr val="DC2626"/>
                </a:solidFill>
              </a:rPr>
              <a:t>Dự báo</a:t>
            </a:r>
            <a:endParaRPr lang="en-US" sz="1400" dirty="0"/>
          </a:p>
        </p:txBody>
      </p:sp>
      <p:sp>
        <p:nvSpPr>
          <p:cNvPr id="36" name="Text 34"/>
          <p:cNvSpPr/>
          <p:nvPr/>
        </p:nvSpPr>
        <p:spPr>
          <a:xfrm>
            <a:off x="9966960" y="1874520"/>
            <a:ext cx="1554480" cy="130759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SMA/SLR baseline</a:t>
            </a:r>
            <a:endParaRPr lang="en-US" sz="1150" dirty="0"/>
          </a:p>
          <a:p>
            <a:pPr indent="0" marL="0">
              <a:buNone/>
            </a:pPr>
            <a:r>
              <a:rPr lang="en-US" sz="1150" dirty="0">
                <a:solidFill>
                  <a:srgbClr val="334155"/>
                </a:solidFill>
              </a:rPr>
              <a:t>đối chiếu API</a:t>
            </a:r>
            <a:endParaRPr lang="en-US" sz="1150" dirty="0"/>
          </a:p>
        </p:txBody>
      </p:sp>
      <p:sp>
        <p:nvSpPr>
          <p:cNvPr id="37" name="Shape 35"/>
          <p:cNvSpPr/>
          <p:nvPr/>
        </p:nvSpPr>
        <p:spPr>
          <a:xfrm>
            <a:off x="10424160" y="914400"/>
            <a:ext cx="393192" cy="393192"/>
          </a:xfrm>
          <a:prstGeom prst="ellipse">
            <a:avLst/>
          </a:prstGeom>
          <a:solidFill>
            <a:srgbClr val="DC2626"/>
          </a:solidFill>
          <a:ln w="12700">
            <a:solidFill>
              <a:srgbClr val="DC2626"/>
            </a:solidFill>
            <a:prstDash val="solid"/>
          </a:ln>
        </p:spPr>
      </p:sp>
      <p:sp>
        <p:nvSpPr>
          <p:cNvPr id="38" name="Text 36"/>
          <p:cNvSpPr/>
          <p:nvPr/>
        </p:nvSpPr>
        <p:spPr>
          <a:xfrm>
            <a:off x="10424160" y="982980"/>
            <a:ext cx="393192" cy="182880"/>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39" name="Text 37"/>
          <p:cNvSpPr/>
          <p:nvPr/>
        </p:nvSpPr>
        <p:spPr>
          <a:xfrm>
            <a:off x="685800" y="3977640"/>
            <a:ext cx="2926080" cy="256032"/>
          </a:xfrm>
          <a:prstGeom prst="rect">
            <a:avLst/>
          </a:prstGeom>
          <a:noFill/>
          <a:ln/>
        </p:spPr>
        <p:txBody>
          <a:bodyPr wrap="square" lIns="0" tIns="0" rIns="0" bIns="0" rtlCol="0" anchor="ctr"/>
          <a:lstStyle/>
          <a:p>
            <a:pPr indent="0" marL="0">
              <a:buNone/>
            </a:pPr>
            <a:r>
              <a:rPr lang="en-US" sz="1700" b="1" dirty="0">
                <a:solidFill>
                  <a:srgbClr val="102A43"/>
                </a:solidFill>
              </a:rPr>
              <a:t>Đầu ra mong muốn</a:t>
            </a:r>
            <a:endParaRPr lang="en-US" sz="1700" dirty="0"/>
          </a:p>
        </p:txBody>
      </p:sp>
      <p:sp>
        <p:nvSpPr>
          <p:cNvPr id="40" name="Shape 38"/>
          <p:cNvSpPr/>
          <p:nvPr/>
        </p:nvSpPr>
        <p:spPr>
          <a:xfrm>
            <a:off x="749808" y="4434840"/>
            <a:ext cx="3127248" cy="1005840"/>
          </a:xfrm>
          <a:prstGeom prst="roundRect">
            <a:avLst>
              <a:gd name="adj" fmla="val 10909"/>
            </a:avLst>
          </a:prstGeom>
          <a:solidFill>
            <a:srgbClr val="FFFFFF"/>
          </a:solidFill>
          <a:ln w="12700">
            <a:solidFill>
              <a:srgbClr val="E2E8F0"/>
            </a:solidFill>
            <a:prstDash val="solid"/>
          </a:ln>
        </p:spPr>
      </p:sp>
      <p:sp>
        <p:nvSpPr>
          <p:cNvPr id="41" name="Shape 39"/>
          <p:cNvSpPr/>
          <p:nvPr/>
        </p:nvSpPr>
        <p:spPr>
          <a:xfrm>
            <a:off x="749808" y="4434840"/>
            <a:ext cx="64008" cy="1005840"/>
          </a:xfrm>
          <a:prstGeom prst="rect">
            <a:avLst/>
          </a:prstGeom>
          <a:solidFill>
            <a:srgbClr val="1D4ED8"/>
          </a:solidFill>
          <a:ln w="12700">
            <a:solidFill>
              <a:srgbClr val="1D4ED8"/>
            </a:solidFill>
            <a:prstDash val="solid"/>
          </a:ln>
        </p:spPr>
      </p:sp>
      <p:sp>
        <p:nvSpPr>
          <p:cNvPr id="42" name="Text 40"/>
          <p:cNvSpPr/>
          <p:nvPr/>
        </p:nvSpPr>
        <p:spPr>
          <a:xfrm>
            <a:off x="950976" y="4599432"/>
            <a:ext cx="2807208" cy="256032"/>
          </a:xfrm>
          <a:prstGeom prst="rect">
            <a:avLst/>
          </a:prstGeom>
          <a:noFill/>
          <a:ln/>
        </p:spPr>
        <p:txBody>
          <a:bodyPr wrap="square" lIns="0" tIns="0" rIns="0" bIns="0" rtlCol="0" anchor="ctr">
            <a:normAutofit/>
          </a:bodyPr>
          <a:lstStyle/>
          <a:p>
            <a:pPr indent="0" marL="0">
              <a:buNone/>
            </a:pPr>
            <a:r>
              <a:rPr lang="en-US" sz="1400" b="1" dirty="0">
                <a:solidFill>
                  <a:srgbClr val="1D4ED8"/>
                </a:solidFill>
              </a:rPr>
              <a:t>Bản đồ động</a:t>
            </a:r>
            <a:endParaRPr lang="en-US" sz="1400" dirty="0"/>
          </a:p>
        </p:txBody>
      </p:sp>
      <p:sp>
        <p:nvSpPr>
          <p:cNvPr id="43" name="Text 41"/>
          <p:cNvSpPr/>
          <p:nvPr/>
        </p:nvSpPr>
        <p:spPr>
          <a:xfrm>
            <a:off x="950976" y="4937760"/>
            <a:ext cx="2807208" cy="43891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xem dữ liệu theo thời gian</a:t>
            </a:r>
            <a:endParaRPr lang="en-US" sz="1150" dirty="0"/>
          </a:p>
        </p:txBody>
      </p:sp>
      <p:sp>
        <p:nvSpPr>
          <p:cNvPr id="44" name="Shape 42"/>
          <p:cNvSpPr/>
          <p:nvPr/>
        </p:nvSpPr>
        <p:spPr>
          <a:xfrm>
            <a:off x="4498848" y="4434840"/>
            <a:ext cx="3127248" cy="1005840"/>
          </a:xfrm>
          <a:prstGeom prst="roundRect">
            <a:avLst>
              <a:gd name="adj" fmla="val 10909"/>
            </a:avLst>
          </a:prstGeom>
          <a:solidFill>
            <a:srgbClr val="FFFFFF"/>
          </a:solidFill>
          <a:ln w="12700">
            <a:solidFill>
              <a:srgbClr val="E2E8F0"/>
            </a:solidFill>
            <a:prstDash val="solid"/>
          </a:ln>
        </p:spPr>
      </p:sp>
      <p:sp>
        <p:nvSpPr>
          <p:cNvPr id="45" name="Shape 43"/>
          <p:cNvSpPr/>
          <p:nvPr/>
        </p:nvSpPr>
        <p:spPr>
          <a:xfrm>
            <a:off x="4498848" y="4434840"/>
            <a:ext cx="64008" cy="1005840"/>
          </a:xfrm>
          <a:prstGeom prst="rect">
            <a:avLst/>
          </a:prstGeom>
          <a:solidFill>
            <a:srgbClr val="16A34A"/>
          </a:solidFill>
          <a:ln w="12700">
            <a:solidFill>
              <a:srgbClr val="16A34A"/>
            </a:solidFill>
            <a:prstDash val="solid"/>
          </a:ln>
        </p:spPr>
      </p:sp>
      <p:sp>
        <p:nvSpPr>
          <p:cNvPr id="46" name="Text 44"/>
          <p:cNvSpPr/>
          <p:nvPr/>
        </p:nvSpPr>
        <p:spPr>
          <a:xfrm>
            <a:off x="4700016" y="4599432"/>
            <a:ext cx="2807208" cy="256032"/>
          </a:xfrm>
          <a:prstGeom prst="rect">
            <a:avLst/>
          </a:prstGeom>
          <a:noFill/>
          <a:ln/>
        </p:spPr>
        <p:txBody>
          <a:bodyPr wrap="square" lIns="0" tIns="0" rIns="0" bIns="0" rtlCol="0" anchor="ctr">
            <a:normAutofit/>
          </a:bodyPr>
          <a:lstStyle/>
          <a:p>
            <a:pPr indent="0" marL="0">
              <a:buNone/>
            </a:pPr>
            <a:r>
              <a:rPr lang="en-US" sz="1400" b="1" dirty="0">
                <a:solidFill>
                  <a:srgbClr val="16A34A"/>
                </a:solidFill>
              </a:rPr>
              <a:t>Phân tích xu hướng</a:t>
            </a:r>
            <a:endParaRPr lang="en-US" sz="1400" dirty="0"/>
          </a:p>
        </p:txBody>
      </p:sp>
      <p:sp>
        <p:nvSpPr>
          <p:cNvPr id="47" name="Text 45"/>
          <p:cNvSpPr/>
          <p:nvPr/>
        </p:nvSpPr>
        <p:spPr>
          <a:xfrm>
            <a:off x="4700016" y="4937760"/>
            <a:ext cx="2807208" cy="43891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biểu đồ + bảng + so sánh</a:t>
            </a:r>
            <a:endParaRPr lang="en-US" sz="1150" dirty="0"/>
          </a:p>
        </p:txBody>
      </p:sp>
      <p:sp>
        <p:nvSpPr>
          <p:cNvPr id="48" name="Shape 46"/>
          <p:cNvSpPr/>
          <p:nvPr/>
        </p:nvSpPr>
        <p:spPr>
          <a:xfrm>
            <a:off x="8247888" y="4434840"/>
            <a:ext cx="3127248" cy="1005840"/>
          </a:xfrm>
          <a:prstGeom prst="roundRect">
            <a:avLst>
              <a:gd name="adj" fmla="val 10909"/>
            </a:avLst>
          </a:prstGeom>
          <a:solidFill>
            <a:srgbClr val="FFFFFF"/>
          </a:solidFill>
          <a:ln w="12700">
            <a:solidFill>
              <a:srgbClr val="E2E8F0"/>
            </a:solidFill>
            <a:prstDash val="solid"/>
          </a:ln>
        </p:spPr>
      </p:sp>
      <p:sp>
        <p:nvSpPr>
          <p:cNvPr id="49" name="Shape 47"/>
          <p:cNvSpPr/>
          <p:nvPr/>
        </p:nvSpPr>
        <p:spPr>
          <a:xfrm>
            <a:off x="8247888" y="4434840"/>
            <a:ext cx="64008" cy="1005840"/>
          </a:xfrm>
          <a:prstGeom prst="rect">
            <a:avLst/>
          </a:prstGeom>
          <a:solidFill>
            <a:srgbClr val="F97316"/>
          </a:solidFill>
          <a:ln w="12700">
            <a:solidFill>
              <a:srgbClr val="F97316"/>
            </a:solidFill>
            <a:prstDash val="solid"/>
          </a:ln>
        </p:spPr>
      </p:sp>
      <p:sp>
        <p:nvSpPr>
          <p:cNvPr id="50" name="Text 48"/>
          <p:cNvSpPr/>
          <p:nvPr/>
        </p:nvSpPr>
        <p:spPr>
          <a:xfrm>
            <a:off x="8449056" y="4599432"/>
            <a:ext cx="2807208" cy="256032"/>
          </a:xfrm>
          <a:prstGeom prst="rect">
            <a:avLst/>
          </a:prstGeom>
          <a:noFill/>
          <a:ln/>
        </p:spPr>
        <p:txBody>
          <a:bodyPr wrap="square" lIns="0" tIns="0" rIns="0" bIns="0" rtlCol="0" anchor="ctr">
            <a:normAutofit/>
          </a:bodyPr>
          <a:lstStyle/>
          <a:p>
            <a:pPr indent="0" marL="0">
              <a:buNone/>
            </a:pPr>
            <a:r>
              <a:rPr lang="en-US" sz="1400" b="1" dirty="0">
                <a:solidFill>
                  <a:srgbClr val="F97316"/>
                </a:solidFill>
              </a:rPr>
              <a:t>Quản trị dữ liệu</a:t>
            </a:r>
            <a:endParaRPr lang="en-US" sz="1400" dirty="0"/>
          </a:p>
        </p:txBody>
      </p:sp>
      <p:sp>
        <p:nvSpPr>
          <p:cNvPr id="51" name="Text 49"/>
          <p:cNvSpPr/>
          <p:nvPr/>
        </p:nvSpPr>
        <p:spPr>
          <a:xfrm>
            <a:off x="8449056" y="4937760"/>
            <a:ext cx="2807208" cy="43891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đồng bộ, CRUD, audit log</a:t>
            </a:r>
            <a:endParaRPr lang="en-US" sz="1150" dirty="0"/>
          </a:p>
        </p:txBody>
      </p:sp>
      <p:sp>
        <p:nvSpPr>
          <p:cNvPr id="52" name="Shape 50"/>
          <p:cNvSpPr/>
          <p:nvPr/>
        </p:nvSpPr>
        <p:spPr>
          <a:xfrm>
            <a:off x="502920" y="6355080"/>
            <a:ext cx="11155680" cy="0"/>
          </a:xfrm>
          <a:prstGeom prst="line">
            <a:avLst/>
          </a:prstGeom>
          <a:noFill/>
          <a:ln w="12700">
            <a:solidFill>
              <a:srgbClr val="E2E8F0"/>
            </a:solidFill>
            <a:prstDash val="solid"/>
          </a:ln>
        </p:spPr>
      </p:sp>
      <p:sp>
        <p:nvSpPr>
          <p:cNvPr id="53" name="Text 51"/>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Hiểu biết môn GIS 3 chiều được vận dụng thế nào?</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Điểm quan trọng: không nhầm 2D + Time với 3D hình học</a:t>
            </a:r>
            <a:endParaRPr lang="en-US" sz="1050" dirty="0"/>
          </a:p>
        </p:txBody>
      </p:sp>
      <p:sp>
        <p:nvSpPr>
          <p:cNvPr id="5" name="Shape 3"/>
          <p:cNvSpPr/>
          <p:nvPr/>
        </p:nvSpPr>
        <p:spPr>
          <a:xfrm>
            <a:off x="841248" y="1417320"/>
            <a:ext cx="2331720" cy="1965960"/>
          </a:xfrm>
          <a:prstGeom prst="roundRect">
            <a:avLst>
              <a:gd name="adj" fmla="val 6047"/>
            </a:avLst>
          </a:prstGeom>
          <a:solidFill>
            <a:srgbClr val="FFFFFF"/>
          </a:solidFill>
          <a:ln w="15240">
            <a:solidFill>
              <a:srgbClr val="1D4ED8"/>
            </a:solidFill>
            <a:prstDash val="solid"/>
          </a:ln>
        </p:spPr>
      </p:sp>
      <p:sp>
        <p:nvSpPr>
          <p:cNvPr id="6" name="Text 4"/>
          <p:cNvSpPr/>
          <p:nvPr/>
        </p:nvSpPr>
        <p:spPr>
          <a:xfrm>
            <a:off x="978408" y="1627632"/>
            <a:ext cx="2057400" cy="329184"/>
          </a:xfrm>
          <a:prstGeom prst="rect">
            <a:avLst/>
          </a:prstGeom>
          <a:noFill/>
          <a:ln/>
        </p:spPr>
        <p:txBody>
          <a:bodyPr wrap="square" lIns="0" tIns="0" rIns="0" bIns="0" rtlCol="0" anchor="ctr"/>
          <a:lstStyle/>
          <a:p>
            <a:pPr algn="ctr" indent="0" marL="0">
              <a:buNone/>
            </a:pPr>
            <a:r>
              <a:rPr lang="en-US" sz="1800" b="1" dirty="0">
                <a:solidFill>
                  <a:srgbClr val="1D4ED8"/>
                </a:solidFill>
              </a:rPr>
              <a:t>GIS 2D</a:t>
            </a:r>
            <a:endParaRPr lang="en-US" sz="1800" dirty="0"/>
          </a:p>
        </p:txBody>
      </p:sp>
      <p:sp>
        <p:nvSpPr>
          <p:cNvPr id="7" name="Text 5"/>
          <p:cNvSpPr/>
          <p:nvPr/>
        </p:nvSpPr>
        <p:spPr>
          <a:xfrm>
            <a:off x="1042416" y="2212848"/>
            <a:ext cx="1920240" cy="731520"/>
          </a:xfrm>
          <a:prstGeom prst="rect">
            <a:avLst/>
          </a:prstGeom>
          <a:noFill/>
          <a:ln/>
        </p:spPr>
        <p:txBody>
          <a:bodyPr wrap="square" lIns="0" tIns="0" rIns="0" bIns="0" rtlCol="0" anchor="ctr">
            <a:normAutofit/>
          </a:bodyPr>
          <a:lstStyle/>
          <a:p>
            <a:pPr algn="ctr" indent="0" marL="0">
              <a:buNone/>
            </a:pPr>
            <a:r>
              <a:rPr lang="en-US" sz="1350" dirty="0">
                <a:solidFill>
                  <a:srgbClr val="334155"/>
                </a:solidFill>
              </a:rPr>
              <a:t>Point / Polygon</a:t>
            </a:r>
            <a:endParaRPr lang="en-US" sz="1350" dirty="0"/>
          </a:p>
          <a:p>
            <a:pPr algn="ctr" indent="0" marL="0">
              <a:buNone/>
            </a:pPr>
            <a:r>
              <a:rPr lang="en-US" sz="1350" dirty="0">
                <a:solidFill>
                  <a:srgbClr val="334155"/>
                </a:solidFill>
              </a:rPr>
              <a:t>trạm đo &amp; ranh giới</a:t>
            </a:r>
            <a:endParaRPr lang="en-US" sz="1350" dirty="0"/>
          </a:p>
        </p:txBody>
      </p:sp>
      <p:sp>
        <p:nvSpPr>
          <p:cNvPr id="8" name="Shape 6"/>
          <p:cNvSpPr/>
          <p:nvPr/>
        </p:nvSpPr>
        <p:spPr>
          <a:xfrm>
            <a:off x="3200400" y="2395728"/>
            <a:ext cx="384048" cy="0"/>
          </a:xfrm>
          <a:prstGeom prst="line">
            <a:avLst/>
          </a:prstGeom>
          <a:noFill/>
          <a:ln w="19050">
            <a:solidFill>
              <a:srgbClr val="CBD5E1"/>
            </a:solidFill>
            <a:prstDash val="solid"/>
            <a:headEnd type="none"/>
            <a:tailEnd type="triangle"/>
          </a:ln>
        </p:spPr>
      </p:sp>
      <p:sp>
        <p:nvSpPr>
          <p:cNvPr id="9" name="Shape 7"/>
          <p:cNvSpPr/>
          <p:nvPr/>
        </p:nvSpPr>
        <p:spPr>
          <a:xfrm>
            <a:off x="3675888" y="1417320"/>
            <a:ext cx="2331720" cy="1965960"/>
          </a:xfrm>
          <a:prstGeom prst="roundRect">
            <a:avLst>
              <a:gd name="adj" fmla="val 6047"/>
            </a:avLst>
          </a:prstGeom>
          <a:solidFill>
            <a:srgbClr val="FFFFFF"/>
          </a:solidFill>
          <a:ln w="15240">
            <a:solidFill>
              <a:srgbClr val="0F766E"/>
            </a:solidFill>
            <a:prstDash val="solid"/>
          </a:ln>
        </p:spPr>
      </p:sp>
      <p:sp>
        <p:nvSpPr>
          <p:cNvPr id="10" name="Text 8"/>
          <p:cNvSpPr/>
          <p:nvPr/>
        </p:nvSpPr>
        <p:spPr>
          <a:xfrm>
            <a:off x="3813048" y="1627632"/>
            <a:ext cx="2057400" cy="329184"/>
          </a:xfrm>
          <a:prstGeom prst="rect">
            <a:avLst/>
          </a:prstGeom>
          <a:noFill/>
          <a:ln/>
        </p:spPr>
        <p:txBody>
          <a:bodyPr wrap="square" lIns="0" tIns="0" rIns="0" bIns="0" rtlCol="0" anchor="ctr"/>
          <a:lstStyle/>
          <a:p>
            <a:pPr algn="ctr" indent="0" marL="0">
              <a:buNone/>
            </a:pPr>
            <a:r>
              <a:rPr lang="en-US" sz="1800" b="1" dirty="0">
                <a:solidFill>
                  <a:srgbClr val="0F766E"/>
                </a:solidFill>
              </a:rPr>
              <a:t>GIS 2D-T</a:t>
            </a:r>
            <a:endParaRPr lang="en-US" sz="1800" dirty="0"/>
          </a:p>
        </p:txBody>
      </p:sp>
      <p:sp>
        <p:nvSpPr>
          <p:cNvPr id="11" name="Text 9"/>
          <p:cNvSpPr/>
          <p:nvPr/>
        </p:nvSpPr>
        <p:spPr>
          <a:xfrm>
            <a:off x="3877056" y="2212848"/>
            <a:ext cx="1920240" cy="731520"/>
          </a:xfrm>
          <a:prstGeom prst="rect">
            <a:avLst/>
          </a:prstGeom>
          <a:noFill/>
          <a:ln/>
        </p:spPr>
        <p:txBody>
          <a:bodyPr wrap="square" lIns="0" tIns="0" rIns="0" bIns="0" rtlCol="0" anchor="ctr">
            <a:normAutofit/>
          </a:bodyPr>
          <a:lstStyle/>
          <a:p>
            <a:pPr algn="ctr" indent="0" marL="0">
              <a:buNone/>
            </a:pPr>
            <a:r>
              <a:rPr lang="en-US" sz="1350" dirty="0">
                <a:solidFill>
                  <a:srgbClr val="334155"/>
                </a:solidFill>
              </a:rPr>
              <a:t>2D + Time</a:t>
            </a:r>
            <a:endParaRPr lang="en-US" sz="1350" dirty="0"/>
          </a:p>
          <a:p>
            <a:pPr algn="ctr" indent="0" marL="0">
              <a:buNone/>
            </a:pPr>
            <a:r>
              <a:rPr lang="en-US" sz="1350" dirty="0">
                <a:solidFill>
                  <a:srgbClr val="334155"/>
                </a:solidFill>
              </a:rPr>
              <a:t>lát cắt theo giờ</a:t>
            </a:r>
            <a:endParaRPr lang="en-US" sz="1350" dirty="0"/>
          </a:p>
        </p:txBody>
      </p:sp>
      <p:sp>
        <p:nvSpPr>
          <p:cNvPr id="12" name="Shape 10"/>
          <p:cNvSpPr/>
          <p:nvPr/>
        </p:nvSpPr>
        <p:spPr>
          <a:xfrm>
            <a:off x="6035040" y="2395728"/>
            <a:ext cx="384048" cy="0"/>
          </a:xfrm>
          <a:prstGeom prst="line">
            <a:avLst/>
          </a:prstGeom>
          <a:noFill/>
          <a:ln w="19050">
            <a:solidFill>
              <a:srgbClr val="CBD5E1"/>
            </a:solidFill>
            <a:prstDash val="solid"/>
            <a:headEnd type="none"/>
            <a:tailEnd type="triangle"/>
          </a:ln>
        </p:spPr>
      </p:sp>
      <p:sp>
        <p:nvSpPr>
          <p:cNvPr id="13" name="Shape 11"/>
          <p:cNvSpPr/>
          <p:nvPr/>
        </p:nvSpPr>
        <p:spPr>
          <a:xfrm>
            <a:off x="6510528" y="1417320"/>
            <a:ext cx="2331720" cy="1965960"/>
          </a:xfrm>
          <a:prstGeom prst="roundRect">
            <a:avLst>
              <a:gd name="adj" fmla="val 6047"/>
            </a:avLst>
          </a:prstGeom>
          <a:solidFill>
            <a:srgbClr val="FFFFFF"/>
          </a:solidFill>
          <a:ln w="15240">
            <a:solidFill>
              <a:srgbClr val="F97316"/>
            </a:solidFill>
            <a:prstDash val="solid"/>
          </a:ln>
        </p:spPr>
      </p:sp>
      <p:sp>
        <p:nvSpPr>
          <p:cNvPr id="14" name="Text 12"/>
          <p:cNvSpPr/>
          <p:nvPr/>
        </p:nvSpPr>
        <p:spPr>
          <a:xfrm>
            <a:off x="6647688" y="1627632"/>
            <a:ext cx="2057400" cy="329184"/>
          </a:xfrm>
          <a:prstGeom prst="rect">
            <a:avLst/>
          </a:prstGeom>
          <a:noFill/>
          <a:ln/>
        </p:spPr>
        <p:txBody>
          <a:bodyPr wrap="square" lIns="0" tIns="0" rIns="0" bIns="0" rtlCol="0" anchor="ctr"/>
          <a:lstStyle/>
          <a:p>
            <a:pPr algn="ctr" indent="0" marL="0">
              <a:buNone/>
            </a:pPr>
            <a:r>
              <a:rPr lang="en-US" sz="1800" b="1" dirty="0">
                <a:solidFill>
                  <a:srgbClr val="F97316"/>
                </a:solidFill>
              </a:rPr>
              <a:t>Raster / Grid</a:t>
            </a:r>
            <a:endParaRPr lang="en-US" sz="1800" dirty="0"/>
          </a:p>
        </p:txBody>
      </p:sp>
      <p:sp>
        <p:nvSpPr>
          <p:cNvPr id="15" name="Text 13"/>
          <p:cNvSpPr/>
          <p:nvPr/>
        </p:nvSpPr>
        <p:spPr>
          <a:xfrm>
            <a:off x="6711696" y="2212848"/>
            <a:ext cx="1920240" cy="731520"/>
          </a:xfrm>
          <a:prstGeom prst="rect">
            <a:avLst/>
          </a:prstGeom>
          <a:noFill/>
          <a:ln/>
        </p:spPr>
        <p:txBody>
          <a:bodyPr wrap="square" lIns="0" tIns="0" rIns="0" bIns="0" rtlCol="0" anchor="ctr">
            <a:normAutofit/>
          </a:bodyPr>
          <a:lstStyle/>
          <a:p>
            <a:pPr algn="ctr" indent="0" marL="0">
              <a:buNone/>
            </a:pPr>
            <a:r>
              <a:rPr lang="en-US" sz="1350" dirty="0">
                <a:solidFill>
                  <a:srgbClr val="334155"/>
                </a:solidFill>
              </a:rPr>
              <a:t>IDW tạo bề mặt</a:t>
            </a:r>
            <a:endParaRPr lang="en-US" sz="1350" dirty="0"/>
          </a:p>
          <a:p>
            <a:pPr algn="ctr" indent="0" marL="0">
              <a:buNone/>
            </a:pPr>
            <a:r>
              <a:rPr lang="en-US" sz="1350" dirty="0">
                <a:solidFill>
                  <a:srgbClr val="334155"/>
                </a:solidFill>
              </a:rPr>
              <a:t>heatmap / grid</a:t>
            </a:r>
            <a:endParaRPr lang="en-US" sz="1350" dirty="0"/>
          </a:p>
        </p:txBody>
      </p:sp>
      <p:sp>
        <p:nvSpPr>
          <p:cNvPr id="16" name="Shape 14"/>
          <p:cNvSpPr/>
          <p:nvPr/>
        </p:nvSpPr>
        <p:spPr>
          <a:xfrm>
            <a:off x="8869680" y="2395728"/>
            <a:ext cx="384048" cy="0"/>
          </a:xfrm>
          <a:prstGeom prst="line">
            <a:avLst/>
          </a:prstGeom>
          <a:noFill/>
          <a:ln w="19050">
            <a:solidFill>
              <a:srgbClr val="CBD5E1"/>
            </a:solidFill>
            <a:prstDash val="solid"/>
            <a:headEnd type="none"/>
            <a:tailEnd type="triangle"/>
          </a:ln>
        </p:spPr>
      </p:sp>
      <p:sp>
        <p:nvSpPr>
          <p:cNvPr id="17" name="Shape 15"/>
          <p:cNvSpPr/>
          <p:nvPr/>
        </p:nvSpPr>
        <p:spPr>
          <a:xfrm>
            <a:off x="9345168" y="1417320"/>
            <a:ext cx="2331720" cy="1965960"/>
          </a:xfrm>
          <a:prstGeom prst="roundRect">
            <a:avLst>
              <a:gd name="adj" fmla="val 6047"/>
            </a:avLst>
          </a:prstGeom>
          <a:solidFill>
            <a:srgbClr val="FFFFFF"/>
          </a:solidFill>
          <a:ln w="15240">
            <a:solidFill>
              <a:srgbClr val="16A34A"/>
            </a:solidFill>
            <a:prstDash val="solid"/>
          </a:ln>
        </p:spPr>
      </p:sp>
      <p:sp>
        <p:nvSpPr>
          <p:cNvPr id="18" name="Text 16"/>
          <p:cNvSpPr/>
          <p:nvPr/>
        </p:nvSpPr>
        <p:spPr>
          <a:xfrm>
            <a:off x="9482328" y="1627632"/>
            <a:ext cx="2057400" cy="329184"/>
          </a:xfrm>
          <a:prstGeom prst="rect">
            <a:avLst/>
          </a:prstGeom>
          <a:noFill/>
          <a:ln/>
        </p:spPr>
        <p:txBody>
          <a:bodyPr wrap="square" lIns="0" tIns="0" rIns="0" bIns="0" rtlCol="0" anchor="ctr"/>
          <a:lstStyle/>
          <a:p>
            <a:pPr algn="ctr" indent="0" marL="0">
              <a:buNone/>
            </a:pPr>
            <a:r>
              <a:rPr lang="en-US" sz="1800" b="1" dirty="0">
                <a:solidFill>
                  <a:srgbClr val="16A34A"/>
                </a:solidFill>
              </a:rPr>
              <a:t>2.5D / 3D</a:t>
            </a:r>
            <a:endParaRPr lang="en-US" sz="1800" dirty="0"/>
          </a:p>
        </p:txBody>
      </p:sp>
      <p:sp>
        <p:nvSpPr>
          <p:cNvPr id="19" name="Text 17"/>
          <p:cNvSpPr/>
          <p:nvPr/>
        </p:nvSpPr>
        <p:spPr>
          <a:xfrm>
            <a:off x="9546336" y="2212848"/>
            <a:ext cx="1920240" cy="731520"/>
          </a:xfrm>
          <a:prstGeom prst="rect">
            <a:avLst/>
          </a:prstGeom>
          <a:noFill/>
          <a:ln/>
        </p:spPr>
        <p:txBody>
          <a:bodyPr wrap="square" lIns="0" tIns="0" rIns="0" bIns="0" rtlCol="0" anchor="ctr">
            <a:normAutofit/>
          </a:bodyPr>
          <a:lstStyle/>
          <a:p>
            <a:pPr algn="ctr" indent="0" marL="0">
              <a:buNone/>
            </a:pPr>
            <a:r>
              <a:rPr lang="en-US" sz="1350" dirty="0">
                <a:solidFill>
                  <a:srgbClr val="334155"/>
                </a:solidFill>
              </a:rPr>
              <a:t>z_scaled → cột 3D</a:t>
            </a:r>
            <a:endParaRPr lang="en-US" sz="1350" dirty="0"/>
          </a:p>
          <a:p>
            <a:pPr algn="ctr" indent="0" marL="0">
              <a:buNone/>
            </a:pPr>
            <a:r>
              <a:rPr lang="en-US" sz="1350" dirty="0">
                <a:solidFill>
                  <a:srgbClr val="334155"/>
                </a:solidFill>
              </a:rPr>
              <a:t>biểu diễn cường độ</a:t>
            </a:r>
            <a:endParaRPr lang="en-US" sz="1350" dirty="0"/>
          </a:p>
        </p:txBody>
      </p:sp>
      <p:sp>
        <p:nvSpPr>
          <p:cNvPr id="20" name="Shape 18"/>
          <p:cNvSpPr/>
          <p:nvPr/>
        </p:nvSpPr>
        <p:spPr>
          <a:xfrm>
            <a:off x="841248" y="3977640"/>
            <a:ext cx="10442448" cy="1115568"/>
          </a:xfrm>
          <a:prstGeom prst="roundRect">
            <a:avLst>
              <a:gd name="adj" fmla="val 9836"/>
            </a:avLst>
          </a:prstGeom>
          <a:solidFill>
            <a:srgbClr val="DBEAFE"/>
          </a:solidFill>
          <a:ln w="12700">
            <a:solidFill>
              <a:srgbClr val="DBEAFE"/>
            </a:solidFill>
            <a:prstDash val="solid"/>
          </a:ln>
        </p:spPr>
      </p:sp>
      <p:sp>
        <p:nvSpPr>
          <p:cNvPr id="21" name="Text 19"/>
          <p:cNvSpPr/>
          <p:nvPr/>
        </p:nvSpPr>
        <p:spPr>
          <a:xfrm>
            <a:off x="1097280" y="4187952"/>
            <a:ext cx="3017520" cy="256032"/>
          </a:xfrm>
          <a:prstGeom prst="rect">
            <a:avLst/>
          </a:prstGeom>
          <a:noFill/>
          <a:ln/>
        </p:spPr>
        <p:txBody>
          <a:bodyPr wrap="square" lIns="0" tIns="0" rIns="0" bIns="0" rtlCol="0" anchor="ctr"/>
          <a:lstStyle/>
          <a:p>
            <a:pPr indent="0" marL="0">
              <a:buNone/>
            </a:pPr>
            <a:r>
              <a:rPr lang="en-US" sz="1600" b="1" dirty="0">
                <a:solidFill>
                  <a:srgbClr val="1D4ED8"/>
                </a:solidFill>
              </a:rPr>
              <a:t>Cách nhóm xử lý yêu cầu 3D</a:t>
            </a:r>
            <a:endParaRPr lang="en-US" sz="1600" dirty="0"/>
          </a:p>
        </p:txBody>
      </p:sp>
      <p:sp>
        <p:nvSpPr>
          <p:cNvPr id="22" name="Text 20"/>
          <p:cNvSpPr/>
          <p:nvPr/>
        </p:nvSpPr>
        <p:spPr>
          <a:xfrm>
            <a:off x="1097280" y="4544568"/>
            <a:ext cx="9692640" cy="292608"/>
          </a:xfrm>
          <a:prstGeom prst="rect">
            <a:avLst/>
          </a:prstGeom>
          <a:noFill/>
          <a:ln/>
        </p:spPr>
        <p:txBody>
          <a:bodyPr wrap="square" lIns="0" tIns="0" rIns="0" bIns="0" rtlCol="0" anchor="ctr">
            <a:normAutofit/>
          </a:bodyPr>
          <a:lstStyle/>
          <a:p>
            <a:pPr indent="0" marL="0">
              <a:buNone/>
            </a:pPr>
            <a:r>
              <a:rPr lang="en-US" sz="1300" dirty="0">
                <a:solidFill>
                  <a:srgbClr val="334155"/>
                </a:solidFill>
              </a:rPr>
              <a:t>Dữ liệu lõi là 2D-T; lớp 3D là lớp trực quan dẫn xuất bằng cột/bề mặt nâng cao, trong đó trục Z biểu diễn cường độ biến khí tượng chứ không phải độ cao khí quyển thật.</a:t>
            </a:r>
            <a:endParaRPr lang="en-US" sz="1300" dirty="0"/>
          </a:p>
        </p:txBody>
      </p:sp>
      <p:sp>
        <p:nvSpPr>
          <p:cNvPr id="23" name="Shape 21"/>
          <p:cNvSpPr/>
          <p:nvPr/>
        </p:nvSpPr>
        <p:spPr>
          <a:xfrm>
            <a:off x="502920" y="6355080"/>
            <a:ext cx="11155680" cy="0"/>
          </a:xfrm>
          <a:prstGeom prst="line">
            <a:avLst/>
          </a:prstGeom>
          <a:noFill/>
          <a:ln w="12700">
            <a:solidFill>
              <a:srgbClr val="E2E8F0"/>
            </a:solidFill>
            <a:prstDash val="solid"/>
          </a:ln>
        </p:spPr>
      </p:sp>
      <p:sp>
        <p:nvSpPr>
          <p:cNvPr id="24" name="Text 22"/>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Mô hình dữ liệu lựa chọn</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Spaghetti 2D-T kết hợp Raster/Heatmap dẫn xuất</a:t>
            </a:r>
            <a:endParaRPr lang="en-US" sz="1050" dirty="0"/>
          </a:p>
        </p:txBody>
      </p:sp>
      <p:pic>
        <p:nvPicPr>
          <p:cNvPr id="5" name="Image 0" descr="/mnt/data/doc_images/image144.png">    </p:cNvPr>
          <p:cNvPicPr>
            <a:picLocks noChangeAspect="1"/>
          </p:cNvPicPr>
          <p:nvPr/>
        </p:nvPicPr>
        <p:blipFill>
          <a:blip r:embed="rId1"/>
          <a:srcRect l="3000" r="9607" t="0" b="5000"/>
          <a:stretch/>
        </p:blipFill>
        <p:spPr>
          <a:xfrm>
            <a:off x="685800" y="1143000"/>
            <a:ext cx="10835640" cy="3611880"/>
          </a:xfrm>
          <a:prstGeom prst="rect">
            <a:avLst/>
          </a:prstGeom>
        </p:spPr>
      </p:pic>
      <p:sp>
        <p:nvSpPr>
          <p:cNvPr id="6" name="Shape 3"/>
          <p:cNvSpPr/>
          <p:nvPr/>
        </p:nvSpPr>
        <p:spPr>
          <a:xfrm>
            <a:off x="914400" y="5166360"/>
            <a:ext cx="2331720" cy="329184"/>
          </a:xfrm>
          <a:prstGeom prst="roundRect">
            <a:avLst>
              <a:gd name="adj" fmla="val 44444"/>
            </a:avLst>
          </a:prstGeom>
          <a:solidFill>
            <a:srgbClr val="1D4ED8"/>
          </a:solidFill>
          <a:ln w="12700">
            <a:solidFill>
              <a:srgbClr val="1D4ED8"/>
            </a:solidFill>
            <a:prstDash val="solid"/>
          </a:ln>
        </p:spPr>
      </p:sp>
      <p:sp>
        <p:nvSpPr>
          <p:cNvPr id="7" name="Text 4"/>
          <p:cNvSpPr/>
          <p:nvPr/>
        </p:nvSpPr>
        <p:spPr>
          <a:xfrm>
            <a:off x="987552" y="5248656"/>
            <a:ext cx="2185416"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Spaghetti vector làm lõi</a:t>
            </a:r>
            <a:endParaRPr lang="en-US" sz="880" dirty="0"/>
          </a:p>
        </p:txBody>
      </p:sp>
      <p:sp>
        <p:nvSpPr>
          <p:cNvPr id="8" name="Shape 5"/>
          <p:cNvSpPr/>
          <p:nvPr/>
        </p:nvSpPr>
        <p:spPr>
          <a:xfrm>
            <a:off x="3520440" y="5166360"/>
            <a:ext cx="2487168" cy="329184"/>
          </a:xfrm>
          <a:prstGeom prst="roundRect">
            <a:avLst>
              <a:gd name="adj" fmla="val 44444"/>
            </a:avLst>
          </a:prstGeom>
          <a:solidFill>
            <a:srgbClr val="0F766E"/>
          </a:solidFill>
          <a:ln w="12700">
            <a:solidFill>
              <a:srgbClr val="0F766E"/>
            </a:solidFill>
            <a:prstDash val="solid"/>
          </a:ln>
        </p:spPr>
      </p:sp>
      <p:sp>
        <p:nvSpPr>
          <p:cNvPr id="9" name="Text 6"/>
          <p:cNvSpPr/>
          <p:nvPr/>
        </p:nvSpPr>
        <p:spPr>
          <a:xfrm>
            <a:off x="3593592" y="5248656"/>
            <a:ext cx="2340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Time-series gắn với địa điểm</a:t>
            </a:r>
            <a:endParaRPr lang="en-US" sz="880" dirty="0"/>
          </a:p>
        </p:txBody>
      </p:sp>
      <p:sp>
        <p:nvSpPr>
          <p:cNvPr id="10" name="Shape 7"/>
          <p:cNvSpPr/>
          <p:nvPr/>
        </p:nvSpPr>
        <p:spPr>
          <a:xfrm>
            <a:off x="6263640" y="5166360"/>
            <a:ext cx="3017520" cy="329184"/>
          </a:xfrm>
          <a:prstGeom prst="roundRect">
            <a:avLst>
              <a:gd name="adj" fmla="val 44444"/>
            </a:avLst>
          </a:prstGeom>
          <a:solidFill>
            <a:srgbClr val="F97316"/>
          </a:solidFill>
          <a:ln w="12700">
            <a:solidFill>
              <a:srgbClr val="F97316"/>
            </a:solidFill>
            <a:prstDash val="solid"/>
          </a:ln>
        </p:spPr>
      </p:sp>
      <p:sp>
        <p:nvSpPr>
          <p:cNvPr id="11" name="Text 8"/>
          <p:cNvSpPr/>
          <p:nvPr/>
        </p:nvSpPr>
        <p:spPr>
          <a:xfrm>
            <a:off x="6336792" y="5248656"/>
            <a:ext cx="2871216"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Raster/Heatmap là dữ liệu dẫn xuất</a:t>
            </a:r>
            <a:endParaRPr lang="en-US" sz="880" dirty="0"/>
          </a:p>
        </p:txBody>
      </p:sp>
      <p:sp>
        <p:nvSpPr>
          <p:cNvPr id="12" name="Shape 9"/>
          <p:cNvSpPr/>
          <p:nvPr/>
        </p:nvSpPr>
        <p:spPr>
          <a:xfrm>
            <a:off x="9555480" y="5166360"/>
            <a:ext cx="2304288" cy="329184"/>
          </a:xfrm>
          <a:prstGeom prst="roundRect">
            <a:avLst>
              <a:gd name="adj" fmla="val 44444"/>
            </a:avLst>
          </a:prstGeom>
          <a:solidFill>
            <a:srgbClr val="16A34A"/>
          </a:solidFill>
          <a:ln w="12700">
            <a:solidFill>
              <a:srgbClr val="16A34A"/>
            </a:solidFill>
            <a:prstDash val="solid"/>
          </a:ln>
        </p:spPr>
      </p:sp>
      <p:sp>
        <p:nvSpPr>
          <p:cNvPr id="13" name="Text 10"/>
          <p:cNvSpPr/>
          <p:nvPr/>
        </p:nvSpPr>
        <p:spPr>
          <a:xfrm>
            <a:off x="9628632" y="5248656"/>
            <a:ext cx="21579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2.5D/3D để trực quan cường độ</a:t>
            </a:r>
            <a:endParaRPr lang="en-US" sz="880" dirty="0"/>
          </a:p>
        </p:txBody>
      </p:sp>
      <p:sp>
        <p:nvSpPr>
          <p:cNvPr id="14" name="Shape 11"/>
          <p:cNvSpPr/>
          <p:nvPr/>
        </p:nvSpPr>
        <p:spPr>
          <a:xfrm>
            <a:off x="502920" y="6355080"/>
            <a:ext cx="11155680" cy="0"/>
          </a:xfrm>
          <a:prstGeom prst="line">
            <a:avLst/>
          </a:prstGeom>
          <a:noFill/>
          <a:ln w="12700">
            <a:solidFill>
              <a:srgbClr val="E2E8F0"/>
            </a:solidFill>
            <a:prstDash val="solid"/>
          </a:ln>
        </p:spPr>
      </p:sp>
      <p:sp>
        <p:nvSpPr>
          <p:cNvPr id="15" name="Text 12"/>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Cơ sở toán học &amp; xử lý không gian</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Từ điểm rời rạc → bề mặt liên tục → cột 3D</a:t>
            </a:r>
            <a:endParaRPr lang="en-US" sz="1050" dirty="0"/>
          </a:p>
        </p:txBody>
      </p:sp>
      <p:sp>
        <p:nvSpPr>
          <p:cNvPr id="5" name="Shape 3"/>
          <p:cNvSpPr/>
          <p:nvPr/>
        </p:nvSpPr>
        <p:spPr>
          <a:xfrm>
            <a:off x="749808" y="1234440"/>
            <a:ext cx="3246120" cy="1143000"/>
          </a:xfrm>
          <a:prstGeom prst="roundRect">
            <a:avLst>
              <a:gd name="adj" fmla="val 9600"/>
            </a:avLst>
          </a:prstGeom>
          <a:solidFill>
            <a:srgbClr val="FFFFFF"/>
          </a:solidFill>
          <a:ln w="12700">
            <a:solidFill>
              <a:srgbClr val="E2E8F0"/>
            </a:solidFill>
            <a:prstDash val="solid"/>
          </a:ln>
        </p:spPr>
      </p:sp>
      <p:sp>
        <p:nvSpPr>
          <p:cNvPr id="6" name="Shape 4"/>
          <p:cNvSpPr/>
          <p:nvPr/>
        </p:nvSpPr>
        <p:spPr>
          <a:xfrm>
            <a:off x="749808" y="1234440"/>
            <a:ext cx="64008" cy="1143000"/>
          </a:xfrm>
          <a:prstGeom prst="rect">
            <a:avLst/>
          </a:prstGeom>
          <a:solidFill>
            <a:srgbClr val="1D4ED8"/>
          </a:solidFill>
          <a:ln w="12700">
            <a:solidFill>
              <a:srgbClr val="1D4ED8"/>
            </a:solidFill>
            <a:prstDash val="solid"/>
          </a:ln>
        </p:spPr>
      </p:sp>
      <p:sp>
        <p:nvSpPr>
          <p:cNvPr id="7" name="Text 5"/>
          <p:cNvSpPr/>
          <p:nvPr/>
        </p:nvSpPr>
        <p:spPr>
          <a:xfrm>
            <a:off x="950976" y="1399032"/>
            <a:ext cx="2926080" cy="256032"/>
          </a:xfrm>
          <a:prstGeom prst="rect">
            <a:avLst/>
          </a:prstGeom>
          <a:noFill/>
          <a:ln/>
        </p:spPr>
        <p:txBody>
          <a:bodyPr wrap="square" lIns="0" tIns="0" rIns="0" bIns="0" rtlCol="0" anchor="ctr">
            <a:normAutofit/>
          </a:bodyPr>
          <a:lstStyle/>
          <a:p>
            <a:pPr indent="0" marL="0">
              <a:buNone/>
            </a:pPr>
            <a:r>
              <a:rPr lang="en-US" sz="1400" b="1" dirty="0">
                <a:solidFill>
                  <a:srgbClr val="1D4ED8"/>
                </a:solidFill>
              </a:rPr>
              <a:t>1. Haversine</a:t>
            </a:r>
            <a:endParaRPr lang="en-US" sz="1400" dirty="0"/>
          </a:p>
        </p:txBody>
      </p:sp>
      <p:sp>
        <p:nvSpPr>
          <p:cNvPr id="8" name="Text 6"/>
          <p:cNvSpPr/>
          <p:nvPr/>
        </p:nvSpPr>
        <p:spPr>
          <a:xfrm>
            <a:off x="950976" y="1737360"/>
            <a:ext cx="2926080" cy="57607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Tính khoảng cách trên bề mặt Trái Đất giữa trạm đo và ô lưới.</a:t>
            </a:r>
            <a:endParaRPr lang="en-US" sz="1150" dirty="0"/>
          </a:p>
        </p:txBody>
      </p:sp>
      <p:sp>
        <p:nvSpPr>
          <p:cNvPr id="9" name="Shape 7"/>
          <p:cNvSpPr/>
          <p:nvPr/>
        </p:nvSpPr>
        <p:spPr>
          <a:xfrm>
            <a:off x="4480560" y="1234440"/>
            <a:ext cx="3337560" cy="1143000"/>
          </a:xfrm>
          <a:prstGeom prst="roundRect">
            <a:avLst>
              <a:gd name="adj" fmla="val 9600"/>
            </a:avLst>
          </a:prstGeom>
          <a:solidFill>
            <a:srgbClr val="FFFFFF"/>
          </a:solidFill>
          <a:ln w="12700">
            <a:solidFill>
              <a:srgbClr val="E2E8F0"/>
            </a:solidFill>
            <a:prstDash val="solid"/>
          </a:ln>
        </p:spPr>
      </p:sp>
      <p:sp>
        <p:nvSpPr>
          <p:cNvPr id="10" name="Shape 8"/>
          <p:cNvSpPr/>
          <p:nvPr/>
        </p:nvSpPr>
        <p:spPr>
          <a:xfrm>
            <a:off x="4480560" y="1234440"/>
            <a:ext cx="64008" cy="1143000"/>
          </a:xfrm>
          <a:prstGeom prst="rect">
            <a:avLst/>
          </a:prstGeom>
          <a:solidFill>
            <a:srgbClr val="F97316"/>
          </a:solidFill>
          <a:ln w="12700">
            <a:solidFill>
              <a:srgbClr val="F97316"/>
            </a:solidFill>
            <a:prstDash val="solid"/>
          </a:ln>
        </p:spPr>
      </p:sp>
      <p:sp>
        <p:nvSpPr>
          <p:cNvPr id="11" name="Text 9"/>
          <p:cNvSpPr/>
          <p:nvPr/>
        </p:nvSpPr>
        <p:spPr>
          <a:xfrm>
            <a:off x="4681728" y="1399032"/>
            <a:ext cx="3017520" cy="256032"/>
          </a:xfrm>
          <a:prstGeom prst="rect">
            <a:avLst/>
          </a:prstGeom>
          <a:noFill/>
          <a:ln/>
        </p:spPr>
        <p:txBody>
          <a:bodyPr wrap="square" lIns="0" tIns="0" rIns="0" bIns="0" rtlCol="0" anchor="ctr">
            <a:normAutofit/>
          </a:bodyPr>
          <a:lstStyle/>
          <a:p>
            <a:pPr indent="0" marL="0">
              <a:buNone/>
            </a:pPr>
            <a:r>
              <a:rPr lang="en-US" sz="1400" b="1" dirty="0">
                <a:solidFill>
                  <a:srgbClr val="F97316"/>
                </a:solidFill>
              </a:rPr>
              <a:t>2. IDW</a:t>
            </a:r>
            <a:endParaRPr lang="en-US" sz="1400" dirty="0"/>
          </a:p>
        </p:txBody>
      </p:sp>
      <p:sp>
        <p:nvSpPr>
          <p:cNvPr id="12" name="Text 10"/>
          <p:cNvSpPr/>
          <p:nvPr/>
        </p:nvSpPr>
        <p:spPr>
          <a:xfrm>
            <a:off x="4681728" y="1737360"/>
            <a:ext cx="3017520" cy="57607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Ước lượng giá trị tại ô lưới bằng trung bình có trọng số theo khoảng cách.</a:t>
            </a:r>
            <a:endParaRPr lang="en-US" sz="1150" dirty="0"/>
          </a:p>
        </p:txBody>
      </p:sp>
      <p:sp>
        <p:nvSpPr>
          <p:cNvPr id="13" name="Shape 11"/>
          <p:cNvSpPr/>
          <p:nvPr/>
        </p:nvSpPr>
        <p:spPr>
          <a:xfrm>
            <a:off x="8275320" y="1234440"/>
            <a:ext cx="3246120" cy="1143000"/>
          </a:xfrm>
          <a:prstGeom prst="roundRect">
            <a:avLst>
              <a:gd name="adj" fmla="val 9600"/>
            </a:avLst>
          </a:prstGeom>
          <a:solidFill>
            <a:srgbClr val="FFFFFF"/>
          </a:solidFill>
          <a:ln w="12700">
            <a:solidFill>
              <a:srgbClr val="E2E8F0"/>
            </a:solidFill>
            <a:prstDash val="solid"/>
          </a:ln>
        </p:spPr>
      </p:sp>
      <p:sp>
        <p:nvSpPr>
          <p:cNvPr id="14" name="Shape 12"/>
          <p:cNvSpPr/>
          <p:nvPr/>
        </p:nvSpPr>
        <p:spPr>
          <a:xfrm>
            <a:off x="8275320" y="1234440"/>
            <a:ext cx="64008" cy="1143000"/>
          </a:xfrm>
          <a:prstGeom prst="rect">
            <a:avLst/>
          </a:prstGeom>
          <a:solidFill>
            <a:srgbClr val="16A34A"/>
          </a:solidFill>
          <a:ln w="12700">
            <a:solidFill>
              <a:srgbClr val="16A34A"/>
            </a:solidFill>
            <a:prstDash val="solid"/>
          </a:ln>
        </p:spPr>
      </p:sp>
      <p:sp>
        <p:nvSpPr>
          <p:cNvPr id="15" name="Text 13"/>
          <p:cNvSpPr/>
          <p:nvPr/>
        </p:nvSpPr>
        <p:spPr>
          <a:xfrm>
            <a:off x="8476488" y="1399032"/>
            <a:ext cx="2926080" cy="256032"/>
          </a:xfrm>
          <a:prstGeom prst="rect">
            <a:avLst/>
          </a:prstGeom>
          <a:noFill/>
          <a:ln/>
        </p:spPr>
        <p:txBody>
          <a:bodyPr wrap="square" lIns="0" tIns="0" rIns="0" bIns="0" rtlCol="0" anchor="ctr">
            <a:normAutofit/>
          </a:bodyPr>
          <a:lstStyle/>
          <a:p>
            <a:pPr indent="0" marL="0">
              <a:buNone/>
            </a:pPr>
            <a:r>
              <a:rPr lang="en-US" sz="1400" b="1" dirty="0">
                <a:solidFill>
                  <a:srgbClr val="16A34A"/>
                </a:solidFill>
              </a:rPr>
              <a:t>3. z_scaled</a:t>
            </a:r>
            <a:endParaRPr lang="en-US" sz="1400" dirty="0"/>
          </a:p>
        </p:txBody>
      </p:sp>
      <p:sp>
        <p:nvSpPr>
          <p:cNvPr id="16" name="Text 14"/>
          <p:cNvSpPr/>
          <p:nvPr/>
        </p:nvSpPr>
        <p:spPr>
          <a:xfrm>
            <a:off x="8476488" y="1737360"/>
            <a:ext cx="2926080" cy="57607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Chuẩn hóa giá trị khí tượng thành chiều cao để hiển thị cột 3D.</a:t>
            </a:r>
            <a:endParaRPr lang="en-US" sz="1150" dirty="0"/>
          </a:p>
        </p:txBody>
      </p:sp>
      <p:sp>
        <p:nvSpPr>
          <p:cNvPr id="17" name="Shape 15"/>
          <p:cNvSpPr/>
          <p:nvPr/>
        </p:nvSpPr>
        <p:spPr>
          <a:xfrm>
            <a:off x="1005840" y="2971800"/>
            <a:ext cx="10195560" cy="1005840"/>
          </a:xfrm>
          <a:prstGeom prst="roundRect">
            <a:avLst>
              <a:gd name="adj" fmla="val 10909"/>
            </a:avLst>
          </a:prstGeom>
          <a:solidFill>
            <a:srgbClr val="0F172A"/>
          </a:solidFill>
          <a:ln w="12700">
            <a:solidFill>
              <a:srgbClr val="0F172A"/>
            </a:solidFill>
            <a:prstDash val="solid"/>
          </a:ln>
        </p:spPr>
      </p:sp>
      <p:sp>
        <p:nvSpPr>
          <p:cNvPr id="18" name="Text 16"/>
          <p:cNvSpPr/>
          <p:nvPr/>
        </p:nvSpPr>
        <p:spPr>
          <a:xfrm>
            <a:off x="1325880" y="3273552"/>
            <a:ext cx="9555480" cy="22860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rPr>
              <a:t>IDW:  Zj = Σ(Zi × wij) / Σwij     với     wij = 1 / dij^p</a:t>
            </a:r>
            <a:endParaRPr lang="en-US" sz="1800" dirty="0"/>
          </a:p>
        </p:txBody>
      </p:sp>
      <p:sp>
        <p:nvSpPr>
          <p:cNvPr id="19" name="Text 17"/>
          <p:cNvSpPr/>
          <p:nvPr/>
        </p:nvSpPr>
        <p:spPr>
          <a:xfrm>
            <a:off x="1874520" y="4187952"/>
            <a:ext cx="8412480" cy="320040"/>
          </a:xfrm>
          <a:prstGeom prst="rect">
            <a:avLst/>
          </a:prstGeom>
          <a:noFill/>
          <a:ln/>
        </p:spPr>
        <p:txBody>
          <a:bodyPr wrap="square" lIns="0" tIns="0" rIns="0" bIns="0" rtlCol="0" anchor="ctr"/>
          <a:lstStyle/>
          <a:p>
            <a:pPr algn="ctr" indent="0" marL="0">
              <a:buNone/>
            </a:pPr>
            <a:r>
              <a:rPr lang="en-US" sz="2000" b="1" dirty="0">
                <a:solidFill>
                  <a:srgbClr val="102A43"/>
                </a:solidFill>
              </a:rPr>
              <a:t>z_scaled = k × (value - min) / (max - min)</a:t>
            </a:r>
            <a:endParaRPr lang="en-US" sz="2000" dirty="0"/>
          </a:p>
        </p:txBody>
      </p:sp>
      <p:sp>
        <p:nvSpPr>
          <p:cNvPr id="20" name="Text 18"/>
          <p:cNvSpPr/>
          <p:nvPr/>
        </p:nvSpPr>
        <p:spPr>
          <a:xfrm>
            <a:off x="1143000" y="4892040"/>
            <a:ext cx="9875520" cy="960120"/>
          </a:xfrm>
          <a:prstGeom prst="rect">
            <a:avLst/>
          </a:prstGeom>
          <a:noFill/>
          <a:ln/>
        </p:spPr>
        <p:txBody>
          <a:bodyPr wrap="square" lIns="508" tIns="508" rIns="508" bIns="508" rtlCol="0" anchor="ctr">
            <a:normAutofit/>
          </a:bodyPr>
          <a:lstStyle/>
          <a:p>
            <a:pPr marL="177800" indent="-177800">
              <a:buSzPct val="100000"/>
              <a:buChar char="•"/>
            </a:pPr>
            <a:r>
              <a:rPr lang="en-US" sz="1450" dirty="0">
                <a:solidFill>
                  <a:srgbClr val="334155"/>
                </a:solidFill>
              </a:rPr>
              <a:t>IDW được chọn vì tính toán nhanh, phù hợp xử lý on-the-fly trên máy chủ.</a:t>
            </a:r>
            <a:endParaRPr lang="en-US" sz="1450" dirty="0"/>
          </a:p>
          <a:p>
            <a:pPr marL="177800" indent="-177800">
              <a:buSzPct val="100000"/>
              <a:buChar char="•"/>
            </a:pPr>
            <a:r>
              <a:rPr lang="en-US" sz="1450" dirty="0">
                <a:solidFill>
                  <a:srgbClr val="334155"/>
                </a:solidFill>
              </a:rPr>
              <a:t>GRID_CELLS và GRID_TIME_VALUES hỗ trợ cache lát cắt theo thời gian.</a:t>
            </a:r>
            <a:endParaRPr lang="en-US" sz="1450" dirty="0"/>
          </a:p>
          <a:p>
            <a:pPr marL="177800" indent="-177800">
              <a:buSzPct val="100000"/>
              <a:buChar char="•"/>
            </a:pPr>
            <a:r>
              <a:rPr lang="en-US" sz="1450" dirty="0">
                <a:solidFill>
                  <a:srgbClr val="334155"/>
                </a:solidFill>
              </a:rPr>
              <a:t>Cột 3D giúp vùng giá trị cao/thấp nổi bật hơn trên bản đồ.</a:t>
            </a:r>
            <a:endParaRPr lang="en-US" sz="1450" dirty="0"/>
          </a:p>
        </p:txBody>
      </p:sp>
      <p:sp>
        <p:nvSpPr>
          <p:cNvPr id="21" name="Shape 19"/>
          <p:cNvSpPr/>
          <p:nvPr/>
        </p:nvSpPr>
        <p:spPr>
          <a:xfrm>
            <a:off x="502920" y="6355080"/>
            <a:ext cx="11155680" cy="0"/>
          </a:xfrm>
          <a:prstGeom prst="line">
            <a:avLst/>
          </a:prstGeom>
          <a:noFill/>
          <a:ln w="12700">
            <a:solidFill>
              <a:srgbClr val="E2E8F0"/>
            </a:solidFill>
            <a:prstDash val="solid"/>
          </a:ln>
        </p:spPr>
      </p:sp>
      <p:sp>
        <p:nvSpPr>
          <p:cNvPr id="22" name="Text 20"/>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Kiến trúc hệ thống tổng thể</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Luồng từ nguồn dữ liệu đến WebGIS</a:t>
            </a:r>
            <a:endParaRPr lang="en-US" sz="1050" dirty="0"/>
          </a:p>
        </p:txBody>
      </p:sp>
      <p:sp>
        <p:nvSpPr>
          <p:cNvPr id="5" name="Shape 3"/>
          <p:cNvSpPr/>
          <p:nvPr/>
        </p:nvSpPr>
        <p:spPr>
          <a:xfrm>
            <a:off x="640080" y="1371600"/>
            <a:ext cx="1828800" cy="1828800"/>
          </a:xfrm>
          <a:prstGeom prst="roundRect">
            <a:avLst>
              <a:gd name="adj" fmla="val 6000"/>
            </a:avLst>
          </a:prstGeom>
          <a:solidFill>
            <a:srgbClr val="FFFFFF"/>
          </a:solidFill>
          <a:ln w="15240">
            <a:solidFill>
              <a:srgbClr val="1D4ED8"/>
            </a:solidFill>
            <a:prstDash val="solid"/>
          </a:ln>
        </p:spPr>
      </p:sp>
      <p:sp>
        <p:nvSpPr>
          <p:cNvPr id="6" name="Text 4"/>
          <p:cNvSpPr/>
          <p:nvPr/>
        </p:nvSpPr>
        <p:spPr>
          <a:xfrm>
            <a:off x="731520" y="1572768"/>
            <a:ext cx="1645920" cy="237744"/>
          </a:xfrm>
          <a:prstGeom prst="rect">
            <a:avLst/>
          </a:prstGeom>
          <a:noFill/>
          <a:ln/>
        </p:spPr>
        <p:txBody>
          <a:bodyPr wrap="square" lIns="0" tIns="0" rIns="0" bIns="0" rtlCol="0" anchor="ctr">
            <a:normAutofit/>
          </a:bodyPr>
          <a:lstStyle/>
          <a:p>
            <a:pPr algn="ctr" indent="0" marL="0">
              <a:buNone/>
            </a:pPr>
            <a:r>
              <a:rPr lang="en-US" sz="1450" b="1" dirty="0">
                <a:solidFill>
                  <a:srgbClr val="1D4ED8"/>
                </a:solidFill>
              </a:rPr>
              <a:t>Nguồn dữ liệu</a:t>
            </a:r>
            <a:endParaRPr lang="en-US" sz="1450" dirty="0"/>
          </a:p>
        </p:txBody>
      </p:sp>
      <p:sp>
        <p:nvSpPr>
          <p:cNvPr id="7" name="Text 5"/>
          <p:cNvSpPr/>
          <p:nvPr/>
        </p:nvSpPr>
        <p:spPr>
          <a:xfrm>
            <a:off x="749808" y="2048256"/>
            <a:ext cx="1609344" cy="749808"/>
          </a:xfrm>
          <a:prstGeom prst="rect">
            <a:avLst/>
          </a:prstGeom>
          <a:noFill/>
          <a:ln/>
        </p:spPr>
        <p:txBody>
          <a:bodyPr wrap="square" lIns="0" tIns="0" rIns="0" bIns="0" rtlCol="0" anchor="ctr">
            <a:normAutofit/>
          </a:bodyPr>
          <a:lstStyle/>
          <a:p>
            <a:pPr algn="ctr" indent="0" marL="0">
              <a:buNone/>
            </a:pPr>
            <a:r>
              <a:rPr lang="en-US" sz="1080" dirty="0">
                <a:solidFill>
                  <a:srgbClr val="334155"/>
                </a:solidFill>
              </a:rPr>
              <a:t>Open-Meteo</a:t>
            </a:r>
            <a:endParaRPr lang="en-US" sz="1080" dirty="0"/>
          </a:p>
          <a:p>
            <a:pPr algn="ctr" indent="0" marL="0">
              <a:buNone/>
            </a:pPr>
            <a:r>
              <a:rPr lang="en-US" sz="1080" dirty="0">
                <a:solidFill>
                  <a:srgbClr val="334155"/>
                </a:solidFill>
              </a:rPr>
              <a:t>Visual Crossing</a:t>
            </a:r>
            <a:endParaRPr lang="en-US" sz="1080" dirty="0"/>
          </a:p>
          <a:p>
            <a:pPr algn="ctr" indent="0" marL="0">
              <a:buNone/>
            </a:pPr>
            <a:r>
              <a:rPr lang="en-US" sz="1080" dirty="0">
                <a:solidFill>
                  <a:srgbClr val="334155"/>
                </a:solidFill>
              </a:rPr>
              <a:t>Ranh giới hành chính</a:t>
            </a:r>
            <a:endParaRPr lang="en-US" sz="1080" dirty="0"/>
          </a:p>
        </p:txBody>
      </p:sp>
      <p:sp>
        <p:nvSpPr>
          <p:cNvPr id="8" name="Shape 6"/>
          <p:cNvSpPr/>
          <p:nvPr/>
        </p:nvSpPr>
        <p:spPr>
          <a:xfrm>
            <a:off x="2514600" y="2286000"/>
            <a:ext cx="182880" cy="0"/>
          </a:xfrm>
          <a:prstGeom prst="line">
            <a:avLst/>
          </a:prstGeom>
          <a:noFill/>
          <a:ln w="20320">
            <a:solidFill>
              <a:srgbClr val="94A3B8"/>
            </a:solidFill>
            <a:prstDash val="solid"/>
            <a:headEnd type="none"/>
            <a:tailEnd type="triangle"/>
          </a:ln>
        </p:spPr>
      </p:sp>
      <p:sp>
        <p:nvSpPr>
          <p:cNvPr id="9" name="Shape 7"/>
          <p:cNvSpPr/>
          <p:nvPr/>
        </p:nvSpPr>
        <p:spPr>
          <a:xfrm>
            <a:off x="2788920" y="1371600"/>
            <a:ext cx="1828800" cy="1828800"/>
          </a:xfrm>
          <a:prstGeom prst="roundRect">
            <a:avLst>
              <a:gd name="adj" fmla="val 6000"/>
            </a:avLst>
          </a:prstGeom>
          <a:solidFill>
            <a:srgbClr val="FFFFFF"/>
          </a:solidFill>
          <a:ln w="15240">
            <a:solidFill>
              <a:srgbClr val="0F766E"/>
            </a:solidFill>
            <a:prstDash val="solid"/>
          </a:ln>
        </p:spPr>
      </p:sp>
      <p:sp>
        <p:nvSpPr>
          <p:cNvPr id="10" name="Text 8"/>
          <p:cNvSpPr/>
          <p:nvPr/>
        </p:nvSpPr>
        <p:spPr>
          <a:xfrm>
            <a:off x="2880360" y="1572768"/>
            <a:ext cx="1645920" cy="237744"/>
          </a:xfrm>
          <a:prstGeom prst="rect">
            <a:avLst/>
          </a:prstGeom>
          <a:noFill/>
          <a:ln/>
        </p:spPr>
        <p:txBody>
          <a:bodyPr wrap="square" lIns="0" tIns="0" rIns="0" bIns="0" rtlCol="0" anchor="ctr">
            <a:normAutofit/>
          </a:bodyPr>
          <a:lstStyle/>
          <a:p>
            <a:pPr algn="ctr" indent="0" marL="0">
              <a:buNone/>
            </a:pPr>
            <a:r>
              <a:rPr lang="en-US" sz="1450" b="1" dirty="0">
                <a:solidFill>
                  <a:srgbClr val="0F766E"/>
                </a:solidFill>
              </a:rPr>
              <a:t>Thu thập</a:t>
            </a:r>
            <a:endParaRPr lang="en-US" sz="1450" dirty="0"/>
          </a:p>
        </p:txBody>
      </p:sp>
      <p:sp>
        <p:nvSpPr>
          <p:cNvPr id="11" name="Text 9"/>
          <p:cNvSpPr/>
          <p:nvPr/>
        </p:nvSpPr>
        <p:spPr>
          <a:xfrm>
            <a:off x="2898648" y="2048256"/>
            <a:ext cx="1609344" cy="749808"/>
          </a:xfrm>
          <a:prstGeom prst="rect">
            <a:avLst/>
          </a:prstGeom>
          <a:noFill/>
          <a:ln/>
        </p:spPr>
        <p:txBody>
          <a:bodyPr wrap="square" lIns="0" tIns="0" rIns="0" bIns="0" rtlCol="0" anchor="ctr">
            <a:normAutofit/>
          </a:bodyPr>
          <a:lstStyle/>
          <a:p>
            <a:pPr algn="ctr" indent="0" marL="0">
              <a:buNone/>
            </a:pPr>
            <a:r>
              <a:rPr lang="en-US" sz="1080" dirty="0">
                <a:solidFill>
                  <a:srgbClr val="334155"/>
                </a:solidFill>
              </a:rPr>
              <a:t>Cron jobs</a:t>
            </a:r>
            <a:endParaRPr lang="en-US" sz="1080" dirty="0"/>
          </a:p>
          <a:p>
            <a:pPr algn="ctr" indent="0" marL="0">
              <a:buNone/>
            </a:pPr>
            <a:r>
              <a:rPr lang="en-US" sz="1080" dirty="0">
                <a:solidFill>
                  <a:srgbClr val="334155"/>
                </a:solidFill>
              </a:rPr>
              <a:t>Sync service</a:t>
            </a:r>
            <a:endParaRPr lang="en-US" sz="1080" dirty="0"/>
          </a:p>
          <a:p>
            <a:pPr algn="ctr" indent="0" marL="0">
              <a:buNone/>
            </a:pPr>
            <a:r>
              <a:rPr lang="en-US" sz="1080" dirty="0">
                <a:solidFill>
                  <a:srgbClr val="334155"/>
                </a:solidFill>
              </a:rPr>
              <a:t>Fallback</a:t>
            </a:r>
            <a:endParaRPr lang="en-US" sz="1080" dirty="0"/>
          </a:p>
        </p:txBody>
      </p:sp>
      <p:sp>
        <p:nvSpPr>
          <p:cNvPr id="12" name="Shape 10"/>
          <p:cNvSpPr/>
          <p:nvPr/>
        </p:nvSpPr>
        <p:spPr>
          <a:xfrm>
            <a:off x="4663440" y="2286000"/>
            <a:ext cx="182880" cy="0"/>
          </a:xfrm>
          <a:prstGeom prst="line">
            <a:avLst/>
          </a:prstGeom>
          <a:noFill/>
          <a:ln w="20320">
            <a:solidFill>
              <a:srgbClr val="94A3B8"/>
            </a:solidFill>
            <a:prstDash val="solid"/>
            <a:headEnd type="none"/>
            <a:tailEnd type="triangle"/>
          </a:ln>
        </p:spPr>
      </p:sp>
      <p:sp>
        <p:nvSpPr>
          <p:cNvPr id="13" name="Shape 11"/>
          <p:cNvSpPr/>
          <p:nvPr/>
        </p:nvSpPr>
        <p:spPr>
          <a:xfrm>
            <a:off x="4937760" y="1371600"/>
            <a:ext cx="1828800" cy="1828800"/>
          </a:xfrm>
          <a:prstGeom prst="roundRect">
            <a:avLst>
              <a:gd name="adj" fmla="val 6000"/>
            </a:avLst>
          </a:prstGeom>
          <a:solidFill>
            <a:srgbClr val="FFFFFF"/>
          </a:solidFill>
          <a:ln w="15240">
            <a:solidFill>
              <a:srgbClr val="F97316"/>
            </a:solidFill>
            <a:prstDash val="solid"/>
          </a:ln>
        </p:spPr>
      </p:sp>
      <p:sp>
        <p:nvSpPr>
          <p:cNvPr id="14" name="Text 12"/>
          <p:cNvSpPr/>
          <p:nvPr/>
        </p:nvSpPr>
        <p:spPr>
          <a:xfrm>
            <a:off x="5029200" y="1572768"/>
            <a:ext cx="1645920" cy="237744"/>
          </a:xfrm>
          <a:prstGeom prst="rect">
            <a:avLst/>
          </a:prstGeom>
          <a:noFill/>
          <a:ln/>
        </p:spPr>
        <p:txBody>
          <a:bodyPr wrap="square" lIns="0" tIns="0" rIns="0" bIns="0" rtlCol="0" anchor="ctr">
            <a:normAutofit/>
          </a:bodyPr>
          <a:lstStyle/>
          <a:p>
            <a:pPr algn="ctr" indent="0" marL="0">
              <a:buNone/>
            </a:pPr>
            <a:r>
              <a:rPr lang="en-US" sz="1450" b="1" dirty="0">
                <a:solidFill>
                  <a:srgbClr val="F97316"/>
                </a:solidFill>
              </a:rPr>
              <a:t>CSDL không gian</a:t>
            </a:r>
            <a:endParaRPr lang="en-US" sz="1450" dirty="0"/>
          </a:p>
        </p:txBody>
      </p:sp>
      <p:sp>
        <p:nvSpPr>
          <p:cNvPr id="15" name="Text 13"/>
          <p:cNvSpPr/>
          <p:nvPr/>
        </p:nvSpPr>
        <p:spPr>
          <a:xfrm>
            <a:off x="5047488" y="2048256"/>
            <a:ext cx="1609344" cy="749808"/>
          </a:xfrm>
          <a:prstGeom prst="rect">
            <a:avLst/>
          </a:prstGeom>
          <a:noFill/>
          <a:ln/>
        </p:spPr>
        <p:txBody>
          <a:bodyPr wrap="square" lIns="0" tIns="0" rIns="0" bIns="0" rtlCol="0" anchor="ctr">
            <a:normAutofit/>
          </a:bodyPr>
          <a:lstStyle/>
          <a:p>
            <a:pPr algn="ctr" indent="0" marL="0">
              <a:buNone/>
            </a:pPr>
            <a:r>
              <a:rPr lang="en-US" sz="1080" dirty="0">
                <a:solidFill>
                  <a:srgbClr val="334155"/>
                </a:solidFill>
              </a:rPr>
              <a:t>PostgreSQL</a:t>
            </a:r>
            <a:endParaRPr lang="en-US" sz="1080" dirty="0"/>
          </a:p>
          <a:p>
            <a:pPr algn="ctr" indent="0" marL="0">
              <a:buNone/>
            </a:pPr>
            <a:r>
              <a:rPr lang="en-US" sz="1080" dirty="0">
                <a:solidFill>
                  <a:srgbClr val="334155"/>
                </a:solidFill>
              </a:rPr>
              <a:t>PostGIS</a:t>
            </a:r>
            <a:endParaRPr lang="en-US" sz="1080" dirty="0"/>
          </a:p>
          <a:p>
            <a:pPr algn="ctr" indent="0" marL="0">
              <a:buNone/>
            </a:pPr>
            <a:r>
              <a:rPr lang="en-US" sz="1080" dirty="0">
                <a:solidFill>
                  <a:srgbClr val="334155"/>
                </a:solidFill>
              </a:rPr>
              <a:t>Grid + Time-series</a:t>
            </a:r>
            <a:endParaRPr lang="en-US" sz="1080" dirty="0"/>
          </a:p>
        </p:txBody>
      </p:sp>
      <p:sp>
        <p:nvSpPr>
          <p:cNvPr id="16" name="Shape 14"/>
          <p:cNvSpPr/>
          <p:nvPr/>
        </p:nvSpPr>
        <p:spPr>
          <a:xfrm>
            <a:off x="6812280" y="2286000"/>
            <a:ext cx="182880" cy="0"/>
          </a:xfrm>
          <a:prstGeom prst="line">
            <a:avLst/>
          </a:prstGeom>
          <a:noFill/>
          <a:ln w="20320">
            <a:solidFill>
              <a:srgbClr val="94A3B8"/>
            </a:solidFill>
            <a:prstDash val="solid"/>
            <a:headEnd type="none"/>
            <a:tailEnd type="triangle"/>
          </a:ln>
        </p:spPr>
      </p:sp>
      <p:sp>
        <p:nvSpPr>
          <p:cNvPr id="17" name="Shape 15"/>
          <p:cNvSpPr/>
          <p:nvPr/>
        </p:nvSpPr>
        <p:spPr>
          <a:xfrm>
            <a:off x="7086600" y="1371600"/>
            <a:ext cx="1828800" cy="1828800"/>
          </a:xfrm>
          <a:prstGeom prst="roundRect">
            <a:avLst>
              <a:gd name="adj" fmla="val 6000"/>
            </a:avLst>
          </a:prstGeom>
          <a:solidFill>
            <a:srgbClr val="FFFFFF"/>
          </a:solidFill>
          <a:ln w="15240">
            <a:solidFill>
              <a:srgbClr val="16A34A"/>
            </a:solidFill>
            <a:prstDash val="solid"/>
          </a:ln>
        </p:spPr>
      </p:sp>
      <p:sp>
        <p:nvSpPr>
          <p:cNvPr id="18" name="Text 16"/>
          <p:cNvSpPr/>
          <p:nvPr/>
        </p:nvSpPr>
        <p:spPr>
          <a:xfrm>
            <a:off x="7178040" y="1572768"/>
            <a:ext cx="1645920" cy="237744"/>
          </a:xfrm>
          <a:prstGeom prst="rect">
            <a:avLst/>
          </a:prstGeom>
          <a:noFill/>
          <a:ln/>
        </p:spPr>
        <p:txBody>
          <a:bodyPr wrap="square" lIns="0" tIns="0" rIns="0" bIns="0" rtlCol="0" anchor="ctr">
            <a:normAutofit/>
          </a:bodyPr>
          <a:lstStyle/>
          <a:p>
            <a:pPr algn="ctr" indent="0" marL="0">
              <a:buNone/>
            </a:pPr>
            <a:r>
              <a:rPr lang="en-US" sz="1450" b="1" dirty="0">
                <a:solidFill>
                  <a:srgbClr val="16A34A"/>
                </a:solidFill>
              </a:rPr>
              <a:t>Backend API</a:t>
            </a:r>
            <a:endParaRPr lang="en-US" sz="1450" dirty="0"/>
          </a:p>
        </p:txBody>
      </p:sp>
      <p:sp>
        <p:nvSpPr>
          <p:cNvPr id="19" name="Text 17"/>
          <p:cNvSpPr/>
          <p:nvPr/>
        </p:nvSpPr>
        <p:spPr>
          <a:xfrm>
            <a:off x="7196328" y="2048256"/>
            <a:ext cx="1609344" cy="749808"/>
          </a:xfrm>
          <a:prstGeom prst="rect">
            <a:avLst/>
          </a:prstGeom>
          <a:noFill/>
          <a:ln/>
        </p:spPr>
        <p:txBody>
          <a:bodyPr wrap="square" lIns="0" tIns="0" rIns="0" bIns="0" rtlCol="0" anchor="ctr">
            <a:normAutofit/>
          </a:bodyPr>
          <a:lstStyle/>
          <a:p>
            <a:pPr algn="ctr" indent="0" marL="0">
              <a:buNone/>
            </a:pPr>
            <a:r>
              <a:rPr lang="en-US" sz="1080" dirty="0">
                <a:solidFill>
                  <a:srgbClr val="334155"/>
                </a:solidFill>
              </a:rPr>
              <a:t>Node.js / Express</a:t>
            </a:r>
            <a:endParaRPr lang="en-US" sz="1080" dirty="0"/>
          </a:p>
          <a:p>
            <a:pPr algn="ctr" indent="0" marL="0">
              <a:buNone/>
            </a:pPr>
            <a:r>
              <a:rPr lang="en-US" sz="1080" dirty="0">
                <a:solidFill>
                  <a:srgbClr val="334155"/>
                </a:solidFill>
              </a:rPr>
              <a:t>RESTful API</a:t>
            </a:r>
            <a:endParaRPr lang="en-US" sz="1080" dirty="0"/>
          </a:p>
          <a:p>
            <a:pPr algn="ctr" indent="0" marL="0">
              <a:buNone/>
            </a:pPr>
            <a:r>
              <a:rPr lang="en-US" sz="1080" dirty="0">
                <a:solidFill>
                  <a:srgbClr val="334155"/>
                </a:solidFill>
              </a:rPr>
              <a:t>IDW + Forecast</a:t>
            </a:r>
            <a:endParaRPr lang="en-US" sz="1080" dirty="0"/>
          </a:p>
        </p:txBody>
      </p:sp>
      <p:sp>
        <p:nvSpPr>
          <p:cNvPr id="20" name="Shape 18"/>
          <p:cNvSpPr/>
          <p:nvPr/>
        </p:nvSpPr>
        <p:spPr>
          <a:xfrm>
            <a:off x="8961120" y="2286000"/>
            <a:ext cx="182880" cy="0"/>
          </a:xfrm>
          <a:prstGeom prst="line">
            <a:avLst/>
          </a:prstGeom>
          <a:noFill/>
          <a:ln w="20320">
            <a:solidFill>
              <a:srgbClr val="94A3B8"/>
            </a:solidFill>
            <a:prstDash val="solid"/>
            <a:headEnd type="none"/>
            <a:tailEnd type="triangle"/>
          </a:ln>
        </p:spPr>
      </p:sp>
      <p:sp>
        <p:nvSpPr>
          <p:cNvPr id="21" name="Shape 19"/>
          <p:cNvSpPr/>
          <p:nvPr/>
        </p:nvSpPr>
        <p:spPr>
          <a:xfrm>
            <a:off x="9235440" y="1371600"/>
            <a:ext cx="1828800" cy="1828800"/>
          </a:xfrm>
          <a:prstGeom prst="roundRect">
            <a:avLst>
              <a:gd name="adj" fmla="val 6000"/>
            </a:avLst>
          </a:prstGeom>
          <a:solidFill>
            <a:srgbClr val="FFFFFF"/>
          </a:solidFill>
          <a:ln w="15240">
            <a:solidFill>
              <a:srgbClr val="DC2626"/>
            </a:solidFill>
            <a:prstDash val="solid"/>
          </a:ln>
        </p:spPr>
      </p:sp>
      <p:sp>
        <p:nvSpPr>
          <p:cNvPr id="22" name="Text 20"/>
          <p:cNvSpPr/>
          <p:nvPr/>
        </p:nvSpPr>
        <p:spPr>
          <a:xfrm>
            <a:off x="9326880" y="1572768"/>
            <a:ext cx="1645920" cy="237744"/>
          </a:xfrm>
          <a:prstGeom prst="rect">
            <a:avLst/>
          </a:prstGeom>
          <a:noFill/>
          <a:ln/>
        </p:spPr>
        <p:txBody>
          <a:bodyPr wrap="square" lIns="0" tIns="0" rIns="0" bIns="0" rtlCol="0" anchor="ctr">
            <a:normAutofit/>
          </a:bodyPr>
          <a:lstStyle/>
          <a:p>
            <a:pPr algn="ctr" indent="0" marL="0">
              <a:buNone/>
            </a:pPr>
            <a:r>
              <a:rPr lang="en-US" sz="1450" b="1" dirty="0">
                <a:solidFill>
                  <a:srgbClr val="DC2626"/>
                </a:solidFill>
              </a:rPr>
              <a:t>WebGIS</a:t>
            </a:r>
            <a:endParaRPr lang="en-US" sz="1450" dirty="0"/>
          </a:p>
        </p:txBody>
      </p:sp>
      <p:sp>
        <p:nvSpPr>
          <p:cNvPr id="23" name="Text 21"/>
          <p:cNvSpPr/>
          <p:nvPr/>
        </p:nvSpPr>
        <p:spPr>
          <a:xfrm>
            <a:off x="9345168" y="2048256"/>
            <a:ext cx="1609344" cy="749808"/>
          </a:xfrm>
          <a:prstGeom prst="rect">
            <a:avLst/>
          </a:prstGeom>
          <a:noFill/>
          <a:ln/>
        </p:spPr>
        <p:txBody>
          <a:bodyPr wrap="square" lIns="0" tIns="0" rIns="0" bIns="0" rtlCol="0" anchor="ctr">
            <a:normAutofit/>
          </a:bodyPr>
          <a:lstStyle/>
          <a:p>
            <a:pPr algn="ctr" indent="0" marL="0">
              <a:buNone/>
            </a:pPr>
            <a:r>
              <a:rPr lang="en-US" sz="1080" dirty="0">
                <a:solidFill>
                  <a:srgbClr val="334155"/>
                </a:solidFill>
              </a:rPr>
              <a:t>React / Leaflet</a:t>
            </a:r>
            <a:endParaRPr lang="en-US" sz="1080" dirty="0"/>
          </a:p>
          <a:p>
            <a:pPr algn="ctr" indent="0" marL="0">
              <a:buNone/>
            </a:pPr>
            <a:r>
              <a:rPr lang="en-US" sz="1080" dirty="0">
                <a:solidFill>
                  <a:srgbClr val="334155"/>
                </a:solidFill>
              </a:rPr>
              <a:t>Bản đồ + Biểu đồ</a:t>
            </a:r>
            <a:endParaRPr lang="en-US" sz="1080" dirty="0"/>
          </a:p>
          <a:p>
            <a:pPr algn="ctr" indent="0" marL="0">
              <a:buNone/>
            </a:pPr>
            <a:r>
              <a:rPr lang="en-US" sz="1080" dirty="0">
                <a:solidFill>
                  <a:srgbClr val="334155"/>
                </a:solidFill>
              </a:rPr>
              <a:t>Admin dashboard</a:t>
            </a:r>
            <a:endParaRPr lang="en-US" sz="1080" dirty="0"/>
          </a:p>
        </p:txBody>
      </p:sp>
      <p:pic>
        <p:nvPicPr>
          <p:cNvPr id="24" name="Image 0" descr="/mnt/data/doc_images/image93.png">    </p:cNvPr>
          <p:cNvPicPr>
            <a:picLocks noChangeAspect="1"/>
          </p:cNvPicPr>
          <p:nvPr/>
        </p:nvPicPr>
        <p:blipFill>
          <a:blip r:embed="rId1"/>
          <a:stretch>
            <a:fillRect/>
          </a:stretch>
        </p:blipFill>
        <p:spPr>
          <a:xfrm>
            <a:off x="4756603" y="3794760"/>
            <a:ext cx="2648315" cy="1737360"/>
          </a:xfrm>
          <a:prstGeom prst="rect">
            <a:avLst/>
          </a:prstGeom>
        </p:spPr>
      </p:pic>
      <p:sp>
        <p:nvSpPr>
          <p:cNvPr id="25" name="Text 22"/>
          <p:cNvSpPr/>
          <p:nvPr/>
        </p:nvSpPr>
        <p:spPr>
          <a:xfrm>
            <a:off x="914400" y="5806440"/>
            <a:ext cx="10241280" cy="219456"/>
          </a:xfrm>
          <a:prstGeom prst="rect">
            <a:avLst/>
          </a:prstGeom>
          <a:noFill/>
          <a:ln/>
        </p:spPr>
        <p:txBody>
          <a:bodyPr wrap="square" lIns="0" tIns="0" rIns="0" bIns="0" rtlCol="0" anchor="ctr"/>
          <a:lstStyle/>
          <a:p>
            <a:pPr algn="ctr" indent="0" marL="0">
              <a:buNone/>
            </a:pPr>
            <a:r>
              <a:rPr lang="en-US" sz="1250" dirty="0">
                <a:solidFill>
                  <a:srgbClr val="334155"/>
                </a:solidFill>
              </a:rPr>
              <a:t>Thiết kế phân tầng giúp tách rõ: dữ liệu → xử lý → API → giao diện.</a:t>
            </a:r>
            <a:endParaRPr lang="en-US" sz="1250" dirty="0"/>
          </a:p>
        </p:txBody>
      </p:sp>
      <p:sp>
        <p:nvSpPr>
          <p:cNvPr id="26" name="Shape 23"/>
          <p:cNvSpPr/>
          <p:nvPr/>
        </p:nvSpPr>
        <p:spPr>
          <a:xfrm>
            <a:off x="502920" y="6355080"/>
            <a:ext cx="11155680" cy="0"/>
          </a:xfrm>
          <a:prstGeom prst="line">
            <a:avLst/>
          </a:prstGeom>
          <a:noFill/>
          <a:ln w="12700">
            <a:solidFill>
              <a:srgbClr val="E2E8F0"/>
            </a:solidFill>
            <a:prstDash val="solid"/>
          </a:ln>
        </p:spPr>
      </p:sp>
      <p:sp>
        <p:nvSpPr>
          <p:cNvPr id="27" name="Text 24"/>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Cơ sở dữ liệu &amp; ERD</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Các thực thể thể hiện dữ liệu không gian - thời gian</a:t>
            </a:r>
            <a:endParaRPr lang="en-US" sz="1050" dirty="0"/>
          </a:p>
        </p:txBody>
      </p:sp>
      <p:pic>
        <p:nvPicPr>
          <p:cNvPr id="5" name="Image 0" descr="/mnt/data/doc_images/image46.png">    </p:cNvPr>
          <p:cNvPicPr>
            <a:picLocks noChangeAspect="1"/>
          </p:cNvPicPr>
          <p:nvPr/>
        </p:nvPicPr>
        <p:blipFill>
          <a:blip r:embed="rId1"/>
          <a:srcRect l="0" r="-367" t="0" b="6000"/>
          <a:stretch/>
        </p:blipFill>
        <p:spPr>
          <a:xfrm>
            <a:off x="502920" y="1042416"/>
            <a:ext cx="11201400" cy="3840480"/>
          </a:xfrm>
          <a:prstGeom prst="rect">
            <a:avLst/>
          </a:prstGeom>
        </p:spPr>
      </p:pic>
      <p:sp>
        <p:nvSpPr>
          <p:cNvPr id="6" name="Shape 3"/>
          <p:cNvSpPr/>
          <p:nvPr/>
        </p:nvSpPr>
        <p:spPr>
          <a:xfrm>
            <a:off x="731520" y="5166360"/>
            <a:ext cx="3200400" cy="777240"/>
          </a:xfrm>
          <a:prstGeom prst="roundRect">
            <a:avLst>
              <a:gd name="adj" fmla="val 14118"/>
            </a:avLst>
          </a:prstGeom>
          <a:solidFill>
            <a:srgbClr val="FFFFFF"/>
          </a:solidFill>
          <a:ln w="12700">
            <a:solidFill>
              <a:srgbClr val="E2E8F0"/>
            </a:solidFill>
            <a:prstDash val="solid"/>
          </a:ln>
        </p:spPr>
      </p:sp>
      <p:sp>
        <p:nvSpPr>
          <p:cNvPr id="7" name="Shape 4"/>
          <p:cNvSpPr/>
          <p:nvPr/>
        </p:nvSpPr>
        <p:spPr>
          <a:xfrm>
            <a:off x="731520" y="5166360"/>
            <a:ext cx="64008" cy="777240"/>
          </a:xfrm>
          <a:prstGeom prst="rect">
            <a:avLst/>
          </a:prstGeom>
          <a:solidFill>
            <a:srgbClr val="1D4ED8"/>
          </a:solidFill>
          <a:ln w="12700">
            <a:solidFill>
              <a:srgbClr val="1D4ED8"/>
            </a:solidFill>
            <a:prstDash val="solid"/>
          </a:ln>
        </p:spPr>
      </p:sp>
      <p:sp>
        <p:nvSpPr>
          <p:cNvPr id="8" name="Text 5"/>
          <p:cNvSpPr/>
          <p:nvPr/>
        </p:nvSpPr>
        <p:spPr>
          <a:xfrm>
            <a:off x="932688" y="5330952"/>
            <a:ext cx="2880360" cy="256032"/>
          </a:xfrm>
          <a:prstGeom prst="rect">
            <a:avLst/>
          </a:prstGeom>
          <a:noFill/>
          <a:ln/>
        </p:spPr>
        <p:txBody>
          <a:bodyPr wrap="square" lIns="0" tIns="0" rIns="0" bIns="0" rtlCol="0" anchor="ctr">
            <a:normAutofit/>
          </a:bodyPr>
          <a:lstStyle/>
          <a:p>
            <a:pPr indent="0" marL="0">
              <a:buNone/>
            </a:pPr>
            <a:r>
              <a:rPr lang="en-US" sz="1400" b="1" dirty="0">
                <a:solidFill>
                  <a:srgbClr val="1D4ED8"/>
                </a:solidFill>
              </a:rPr>
              <a:t>Không gian</a:t>
            </a:r>
            <a:endParaRPr lang="en-US" sz="1400" dirty="0"/>
          </a:p>
        </p:txBody>
      </p:sp>
      <p:sp>
        <p:nvSpPr>
          <p:cNvPr id="9" name="Text 6"/>
          <p:cNvSpPr/>
          <p:nvPr/>
        </p:nvSpPr>
        <p:spPr>
          <a:xfrm>
            <a:off x="932688" y="5669280"/>
            <a:ext cx="2880360" cy="21031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LOCATIONS, ADMIN_BOUNDARIES, GRID_CELLS</a:t>
            </a:r>
            <a:endParaRPr lang="en-US" sz="1150" dirty="0"/>
          </a:p>
        </p:txBody>
      </p:sp>
      <p:sp>
        <p:nvSpPr>
          <p:cNvPr id="10" name="Shape 7"/>
          <p:cNvSpPr/>
          <p:nvPr/>
        </p:nvSpPr>
        <p:spPr>
          <a:xfrm>
            <a:off x="4480560" y="5166360"/>
            <a:ext cx="3200400" cy="777240"/>
          </a:xfrm>
          <a:prstGeom prst="roundRect">
            <a:avLst>
              <a:gd name="adj" fmla="val 14118"/>
            </a:avLst>
          </a:prstGeom>
          <a:solidFill>
            <a:srgbClr val="FFFFFF"/>
          </a:solidFill>
          <a:ln w="12700">
            <a:solidFill>
              <a:srgbClr val="E2E8F0"/>
            </a:solidFill>
            <a:prstDash val="solid"/>
          </a:ln>
        </p:spPr>
      </p:sp>
      <p:sp>
        <p:nvSpPr>
          <p:cNvPr id="11" name="Shape 8"/>
          <p:cNvSpPr/>
          <p:nvPr/>
        </p:nvSpPr>
        <p:spPr>
          <a:xfrm>
            <a:off x="4480560" y="5166360"/>
            <a:ext cx="64008" cy="777240"/>
          </a:xfrm>
          <a:prstGeom prst="rect">
            <a:avLst/>
          </a:prstGeom>
          <a:solidFill>
            <a:srgbClr val="F97316"/>
          </a:solidFill>
          <a:ln w="12700">
            <a:solidFill>
              <a:srgbClr val="F97316"/>
            </a:solidFill>
            <a:prstDash val="solid"/>
          </a:ln>
        </p:spPr>
      </p:sp>
      <p:sp>
        <p:nvSpPr>
          <p:cNvPr id="12" name="Text 9"/>
          <p:cNvSpPr/>
          <p:nvPr/>
        </p:nvSpPr>
        <p:spPr>
          <a:xfrm>
            <a:off x="4681728" y="5330952"/>
            <a:ext cx="2880360" cy="256032"/>
          </a:xfrm>
          <a:prstGeom prst="rect">
            <a:avLst/>
          </a:prstGeom>
          <a:noFill/>
          <a:ln/>
        </p:spPr>
        <p:txBody>
          <a:bodyPr wrap="square" lIns="0" tIns="0" rIns="0" bIns="0" rtlCol="0" anchor="ctr">
            <a:normAutofit/>
          </a:bodyPr>
          <a:lstStyle/>
          <a:p>
            <a:pPr indent="0" marL="0">
              <a:buNone/>
            </a:pPr>
            <a:r>
              <a:rPr lang="en-US" sz="1400" b="1" dirty="0">
                <a:solidFill>
                  <a:srgbClr val="F97316"/>
                </a:solidFill>
              </a:rPr>
              <a:t>Thời gian</a:t>
            </a:r>
            <a:endParaRPr lang="en-US" sz="1400" dirty="0"/>
          </a:p>
        </p:txBody>
      </p:sp>
      <p:sp>
        <p:nvSpPr>
          <p:cNvPr id="13" name="Text 10"/>
          <p:cNvSpPr/>
          <p:nvPr/>
        </p:nvSpPr>
        <p:spPr>
          <a:xfrm>
            <a:off x="4681728" y="5669280"/>
            <a:ext cx="2880360" cy="21031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HOURLY / DAILY_WEATHER, FORECAST_DATA</a:t>
            </a:r>
            <a:endParaRPr lang="en-US" sz="1150" dirty="0"/>
          </a:p>
        </p:txBody>
      </p:sp>
      <p:sp>
        <p:nvSpPr>
          <p:cNvPr id="14" name="Shape 11"/>
          <p:cNvSpPr/>
          <p:nvPr/>
        </p:nvSpPr>
        <p:spPr>
          <a:xfrm>
            <a:off x="8229600" y="5166360"/>
            <a:ext cx="3200400" cy="777240"/>
          </a:xfrm>
          <a:prstGeom prst="roundRect">
            <a:avLst>
              <a:gd name="adj" fmla="val 14118"/>
            </a:avLst>
          </a:prstGeom>
          <a:solidFill>
            <a:srgbClr val="FFFFFF"/>
          </a:solidFill>
          <a:ln w="12700">
            <a:solidFill>
              <a:srgbClr val="E2E8F0"/>
            </a:solidFill>
            <a:prstDash val="solid"/>
          </a:ln>
        </p:spPr>
      </p:sp>
      <p:sp>
        <p:nvSpPr>
          <p:cNvPr id="15" name="Shape 12"/>
          <p:cNvSpPr/>
          <p:nvPr/>
        </p:nvSpPr>
        <p:spPr>
          <a:xfrm>
            <a:off x="8229600" y="5166360"/>
            <a:ext cx="64008" cy="777240"/>
          </a:xfrm>
          <a:prstGeom prst="rect">
            <a:avLst/>
          </a:prstGeom>
          <a:solidFill>
            <a:srgbClr val="0F766E"/>
          </a:solidFill>
          <a:ln w="12700">
            <a:solidFill>
              <a:srgbClr val="0F766E"/>
            </a:solidFill>
            <a:prstDash val="solid"/>
          </a:ln>
        </p:spPr>
      </p:sp>
      <p:sp>
        <p:nvSpPr>
          <p:cNvPr id="16" name="Text 13"/>
          <p:cNvSpPr/>
          <p:nvPr/>
        </p:nvSpPr>
        <p:spPr>
          <a:xfrm>
            <a:off x="8430768" y="5330952"/>
            <a:ext cx="2880360" cy="256032"/>
          </a:xfrm>
          <a:prstGeom prst="rect">
            <a:avLst/>
          </a:prstGeom>
          <a:noFill/>
          <a:ln/>
        </p:spPr>
        <p:txBody>
          <a:bodyPr wrap="square" lIns="0" tIns="0" rIns="0" bIns="0" rtlCol="0" anchor="ctr">
            <a:normAutofit/>
          </a:bodyPr>
          <a:lstStyle/>
          <a:p>
            <a:pPr indent="0" marL="0">
              <a:buNone/>
            </a:pPr>
            <a:r>
              <a:rPr lang="en-US" sz="1400" b="1" dirty="0">
                <a:solidFill>
                  <a:srgbClr val="0F766E"/>
                </a:solidFill>
              </a:rPr>
              <a:t>Quản trị</a:t>
            </a:r>
            <a:endParaRPr lang="en-US" sz="1400" dirty="0"/>
          </a:p>
        </p:txBody>
      </p:sp>
      <p:sp>
        <p:nvSpPr>
          <p:cNvPr id="17" name="Text 14"/>
          <p:cNvSpPr/>
          <p:nvPr/>
        </p:nvSpPr>
        <p:spPr>
          <a:xfrm>
            <a:off x="8430768" y="5669280"/>
            <a:ext cx="2880360" cy="21031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USERS, SYNC_LOG, DATA_CHANGE_LOG</a:t>
            </a:r>
            <a:endParaRPr lang="en-US" sz="1150" dirty="0"/>
          </a:p>
        </p:txBody>
      </p:sp>
      <p:sp>
        <p:nvSpPr>
          <p:cNvPr id="18" name="Shape 15"/>
          <p:cNvSpPr/>
          <p:nvPr/>
        </p:nvSpPr>
        <p:spPr>
          <a:xfrm>
            <a:off x="502920" y="6355080"/>
            <a:ext cx="11155680" cy="0"/>
          </a:xfrm>
          <a:prstGeom prst="line">
            <a:avLst/>
          </a:prstGeom>
          <a:noFill/>
          <a:ln w="12700">
            <a:solidFill>
              <a:srgbClr val="E2E8F0"/>
            </a:solidFill>
            <a:prstDash val="solid"/>
          </a:ln>
        </p:spPr>
      </p:sp>
      <p:sp>
        <p:nvSpPr>
          <p:cNvPr id="19" name="Text 16"/>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Chức năng chính theo tác nhân</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Use Case được chia theo vai trò sử dụng hệ thống</a:t>
            </a:r>
            <a:endParaRPr lang="en-US" sz="1050" dirty="0"/>
          </a:p>
        </p:txBody>
      </p:sp>
      <p:sp>
        <p:nvSpPr>
          <p:cNvPr id="5" name="Shape 3"/>
          <p:cNvSpPr/>
          <p:nvPr/>
        </p:nvSpPr>
        <p:spPr>
          <a:xfrm>
            <a:off x="685800" y="1234440"/>
            <a:ext cx="3337560" cy="4251960"/>
          </a:xfrm>
          <a:prstGeom prst="roundRect">
            <a:avLst>
              <a:gd name="adj" fmla="val 3836"/>
            </a:avLst>
          </a:prstGeom>
          <a:solidFill>
            <a:srgbClr val="FFFFFF"/>
          </a:solidFill>
          <a:ln w="16510">
            <a:solidFill>
              <a:srgbClr val="1D4ED8"/>
            </a:solidFill>
            <a:prstDash val="solid"/>
          </a:ln>
        </p:spPr>
      </p:sp>
      <p:sp>
        <p:nvSpPr>
          <p:cNvPr id="6" name="Shape 4"/>
          <p:cNvSpPr/>
          <p:nvPr/>
        </p:nvSpPr>
        <p:spPr>
          <a:xfrm>
            <a:off x="685800" y="1234440"/>
            <a:ext cx="3337560" cy="548640"/>
          </a:xfrm>
          <a:prstGeom prst="rect">
            <a:avLst/>
          </a:prstGeom>
          <a:solidFill>
            <a:srgbClr val="1D4ED8"/>
          </a:solidFill>
          <a:ln w="12700">
            <a:solidFill>
              <a:srgbClr val="1D4ED8"/>
            </a:solidFill>
            <a:prstDash val="solid"/>
          </a:ln>
        </p:spPr>
      </p:sp>
      <p:sp>
        <p:nvSpPr>
          <p:cNvPr id="7" name="Text 5"/>
          <p:cNvSpPr/>
          <p:nvPr/>
        </p:nvSpPr>
        <p:spPr>
          <a:xfrm>
            <a:off x="822960" y="1399032"/>
            <a:ext cx="3063240" cy="201168"/>
          </a:xfrm>
          <a:prstGeom prst="rect">
            <a:avLst/>
          </a:prstGeom>
          <a:noFill/>
          <a:ln/>
        </p:spPr>
        <p:txBody>
          <a:bodyPr wrap="square" lIns="0" tIns="0" rIns="0" bIns="0" rtlCol="0" anchor="ctr">
            <a:normAutofit/>
          </a:bodyPr>
          <a:lstStyle/>
          <a:p>
            <a:pPr algn="ctr" indent="0" marL="0">
              <a:buNone/>
            </a:pPr>
            <a:r>
              <a:rPr lang="en-US" sz="1420" b="1" dirty="0">
                <a:solidFill>
                  <a:srgbClr val="FFFFFF"/>
                </a:solidFill>
              </a:rPr>
              <a:t>Người dùng phổ thông</a:t>
            </a:r>
            <a:endParaRPr lang="en-US" sz="1420" dirty="0"/>
          </a:p>
        </p:txBody>
      </p:sp>
      <p:sp>
        <p:nvSpPr>
          <p:cNvPr id="8" name="Text 6"/>
          <p:cNvSpPr/>
          <p:nvPr/>
        </p:nvSpPr>
        <p:spPr>
          <a:xfrm>
            <a:off x="996696" y="2075688"/>
            <a:ext cx="2743200" cy="2560320"/>
          </a:xfrm>
          <a:prstGeom prst="rect">
            <a:avLst/>
          </a:prstGeom>
          <a:noFill/>
          <a:ln/>
        </p:spPr>
        <p:txBody>
          <a:bodyPr wrap="square" lIns="508" tIns="508" rIns="508" bIns="508" rtlCol="0" anchor="ctr">
            <a:normAutofit/>
          </a:bodyPr>
          <a:lstStyle/>
          <a:p>
            <a:pPr marL="177800" indent="-177800">
              <a:buSzPct val="100000"/>
              <a:buChar char="•"/>
            </a:pPr>
            <a:r>
              <a:rPr lang="en-US" sz="1320" dirty="0">
                <a:solidFill>
                  <a:srgbClr val="334155"/>
                </a:solidFill>
              </a:rPr>
              <a:t>Xem bản đồ thời tiết</a:t>
            </a:r>
            <a:endParaRPr lang="en-US" sz="1320" dirty="0"/>
          </a:p>
          <a:p>
            <a:pPr marL="177800" indent="-177800">
              <a:buSzPct val="100000"/>
              <a:buChar char="•"/>
            </a:pPr>
            <a:r>
              <a:rPr lang="en-US" sz="1320" dirty="0">
                <a:solidFill>
                  <a:srgbClr val="334155"/>
                </a:solidFill>
              </a:rPr>
              <a:t>Chọn lớp marker/heatmap/phân vùng</a:t>
            </a:r>
            <a:endParaRPr lang="en-US" sz="1320" dirty="0"/>
          </a:p>
          <a:p>
            <a:pPr marL="177800" indent="-177800">
              <a:buSzPct val="100000"/>
              <a:buChar char="•"/>
            </a:pPr>
            <a:r>
              <a:rPr lang="en-US" sz="1320" dirty="0">
                <a:solidFill>
                  <a:srgbClr val="334155"/>
                </a:solidFill>
              </a:rPr>
              <a:t>Xem dự báo ngắn hạn</a:t>
            </a:r>
            <a:endParaRPr lang="en-US" sz="1320" dirty="0"/>
          </a:p>
          <a:p>
            <a:pPr marL="177800" indent="-177800">
              <a:buSzPct val="100000"/>
              <a:buChar char="•"/>
            </a:pPr>
            <a:r>
              <a:rPr lang="en-US" sz="1320" dirty="0">
                <a:solidFill>
                  <a:srgbClr val="334155"/>
                </a:solidFill>
              </a:rPr>
              <a:t>Dùng time-slider</a:t>
            </a:r>
            <a:endParaRPr lang="en-US" sz="1320" dirty="0"/>
          </a:p>
        </p:txBody>
      </p:sp>
      <p:sp>
        <p:nvSpPr>
          <p:cNvPr id="9" name="Shape 7"/>
          <p:cNvSpPr/>
          <p:nvPr/>
        </p:nvSpPr>
        <p:spPr>
          <a:xfrm>
            <a:off x="4526280" y="1234440"/>
            <a:ext cx="3337560" cy="4251960"/>
          </a:xfrm>
          <a:prstGeom prst="roundRect">
            <a:avLst>
              <a:gd name="adj" fmla="val 3836"/>
            </a:avLst>
          </a:prstGeom>
          <a:solidFill>
            <a:srgbClr val="FFFFFF"/>
          </a:solidFill>
          <a:ln w="16510">
            <a:solidFill>
              <a:srgbClr val="F97316"/>
            </a:solidFill>
            <a:prstDash val="solid"/>
          </a:ln>
        </p:spPr>
      </p:sp>
      <p:sp>
        <p:nvSpPr>
          <p:cNvPr id="10" name="Shape 8"/>
          <p:cNvSpPr/>
          <p:nvPr/>
        </p:nvSpPr>
        <p:spPr>
          <a:xfrm>
            <a:off x="4526280" y="1234440"/>
            <a:ext cx="3337560" cy="548640"/>
          </a:xfrm>
          <a:prstGeom prst="rect">
            <a:avLst/>
          </a:prstGeom>
          <a:solidFill>
            <a:srgbClr val="F97316"/>
          </a:solidFill>
          <a:ln w="12700">
            <a:solidFill>
              <a:srgbClr val="F97316"/>
            </a:solidFill>
            <a:prstDash val="solid"/>
          </a:ln>
        </p:spPr>
      </p:sp>
      <p:sp>
        <p:nvSpPr>
          <p:cNvPr id="11" name="Text 9"/>
          <p:cNvSpPr/>
          <p:nvPr/>
        </p:nvSpPr>
        <p:spPr>
          <a:xfrm>
            <a:off x="4663440" y="1399032"/>
            <a:ext cx="3063240" cy="201168"/>
          </a:xfrm>
          <a:prstGeom prst="rect">
            <a:avLst/>
          </a:prstGeom>
          <a:noFill/>
          <a:ln/>
        </p:spPr>
        <p:txBody>
          <a:bodyPr wrap="square" lIns="0" tIns="0" rIns="0" bIns="0" rtlCol="0" anchor="ctr">
            <a:normAutofit/>
          </a:bodyPr>
          <a:lstStyle/>
          <a:p>
            <a:pPr algn="ctr" indent="0" marL="0">
              <a:buNone/>
            </a:pPr>
            <a:r>
              <a:rPr lang="en-US" sz="1420" b="1" dirty="0">
                <a:solidFill>
                  <a:srgbClr val="FFFFFF"/>
                </a:solidFill>
              </a:rPr>
              <a:t>Nhà phân tích</a:t>
            </a:r>
            <a:endParaRPr lang="en-US" sz="1420" dirty="0"/>
          </a:p>
        </p:txBody>
      </p:sp>
      <p:sp>
        <p:nvSpPr>
          <p:cNvPr id="12" name="Text 10"/>
          <p:cNvSpPr/>
          <p:nvPr/>
        </p:nvSpPr>
        <p:spPr>
          <a:xfrm>
            <a:off x="4837176" y="2075688"/>
            <a:ext cx="2743200" cy="2560320"/>
          </a:xfrm>
          <a:prstGeom prst="rect">
            <a:avLst/>
          </a:prstGeom>
          <a:noFill/>
          <a:ln/>
        </p:spPr>
        <p:txBody>
          <a:bodyPr wrap="square" lIns="508" tIns="508" rIns="508" bIns="508" rtlCol="0" anchor="ctr">
            <a:normAutofit/>
          </a:bodyPr>
          <a:lstStyle/>
          <a:p>
            <a:pPr marL="177800" indent="-177800">
              <a:buSzPct val="100000"/>
              <a:buChar char="•"/>
            </a:pPr>
            <a:r>
              <a:rPr lang="en-US" sz="1320" dirty="0">
                <a:solidFill>
                  <a:srgbClr val="334155"/>
                </a:solidFill>
              </a:rPr>
              <a:t>Tra cứu lịch sử</a:t>
            </a:r>
            <a:endParaRPr lang="en-US" sz="1320" dirty="0"/>
          </a:p>
          <a:p>
            <a:pPr marL="177800" indent="-177800">
              <a:buSzPct val="100000"/>
              <a:buChar char="•"/>
            </a:pPr>
            <a:r>
              <a:rPr lang="en-US" sz="1320" dirty="0">
                <a:solidFill>
                  <a:srgbClr val="334155"/>
                </a:solidFill>
              </a:rPr>
              <a:t>Thống kê &amp; so sánh</a:t>
            </a:r>
            <a:endParaRPr lang="en-US" sz="1320" dirty="0"/>
          </a:p>
          <a:p>
            <a:pPr marL="177800" indent="-177800">
              <a:buSzPct val="100000"/>
              <a:buChar char="•"/>
            </a:pPr>
            <a:r>
              <a:rPr lang="en-US" sz="1320" dirty="0">
                <a:solidFill>
                  <a:srgbClr val="334155"/>
                </a:solidFill>
              </a:rPr>
              <a:t>Chạy baseline SMA/SLR</a:t>
            </a:r>
            <a:endParaRPr lang="en-US" sz="1320" dirty="0"/>
          </a:p>
          <a:p>
            <a:pPr marL="177800" indent="-177800">
              <a:buSzPct val="100000"/>
              <a:buChar char="•"/>
            </a:pPr>
            <a:r>
              <a:rPr lang="en-US" sz="1320" dirty="0">
                <a:solidFill>
                  <a:srgbClr val="334155"/>
                </a:solidFill>
              </a:rPr>
              <a:t>Xuất dữ liệu CSV</a:t>
            </a:r>
            <a:endParaRPr lang="en-US" sz="1320" dirty="0"/>
          </a:p>
        </p:txBody>
      </p:sp>
      <p:sp>
        <p:nvSpPr>
          <p:cNvPr id="13" name="Shape 11"/>
          <p:cNvSpPr/>
          <p:nvPr/>
        </p:nvSpPr>
        <p:spPr>
          <a:xfrm>
            <a:off x="8366760" y="1234440"/>
            <a:ext cx="3337560" cy="4251960"/>
          </a:xfrm>
          <a:prstGeom prst="roundRect">
            <a:avLst>
              <a:gd name="adj" fmla="val 3836"/>
            </a:avLst>
          </a:prstGeom>
          <a:solidFill>
            <a:srgbClr val="FFFFFF"/>
          </a:solidFill>
          <a:ln w="16510">
            <a:solidFill>
              <a:srgbClr val="16A34A"/>
            </a:solidFill>
            <a:prstDash val="solid"/>
          </a:ln>
        </p:spPr>
      </p:sp>
      <p:sp>
        <p:nvSpPr>
          <p:cNvPr id="14" name="Shape 12"/>
          <p:cNvSpPr/>
          <p:nvPr/>
        </p:nvSpPr>
        <p:spPr>
          <a:xfrm>
            <a:off x="8366760" y="1234440"/>
            <a:ext cx="3337560" cy="548640"/>
          </a:xfrm>
          <a:prstGeom prst="rect">
            <a:avLst/>
          </a:prstGeom>
          <a:solidFill>
            <a:srgbClr val="16A34A"/>
          </a:solidFill>
          <a:ln w="12700">
            <a:solidFill>
              <a:srgbClr val="16A34A"/>
            </a:solidFill>
            <a:prstDash val="solid"/>
          </a:ln>
        </p:spPr>
      </p:sp>
      <p:sp>
        <p:nvSpPr>
          <p:cNvPr id="15" name="Text 13"/>
          <p:cNvSpPr/>
          <p:nvPr/>
        </p:nvSpPr>
        <p:spPr>
          <a:xfrm>
            <a:off x="8503920" y="1399032"/>
            <a:ext cx="3063240" cy="201168"/>
          </a:xfrm>
          <a:prstGeom prst="rect">
            <a:avLst/>
          </a:prstGeom>
          <a:noFill/>
          <a:ln/>
        </p:spPr>
        <p:txBody>
          <a:bodyPr wrap="square" lIns="0" tIns="0" rIns="0" bIns="0" rtlCol="0" anchor="ctr">
            <a:normAutofit/>
          </a:bodyPr>
          <a:lstStyle/>
          <a:p>
            <a:pPr algn="ctr" indent="0" marL="0">
              <a:buNone/>
            </a:pPr>
            <a:r>
              <a:rPr lang="en-US" sz="1420" b="1" dirty="0">
                <a:solidFill>
                  <a:srgbClr val="FFFFFF"/>
                </a:solidFill>
              </a:rPr>
              <a:t>Quản trị viên</a:t>
            </a:r>
            <a:endParaRPr lang="en-US" sz="1420" dirty="0"/>
          </a:p>
        </p:txBody>
      </p:sp>
      <p:sp>
        <p:nvSpPr>
          <p:cNvPr id="16" name="Text 14"/>
          <p:cNvSpPr/>
          <p:nvPr/>
        </p:nvSpPr>
        <p:spPr>
          <a:xfrm>
            <a:off x="8677656" y="2075688"/>
            <a:ext cx="2743200" cy="2560320"/>
          </a:xfrm>
          <a:prstGeom prst="rect">
            <a:avLst/>
          </a:prstGeom>
          <a:noFill/>
          <a:ln/>
        </p:spPr>
        <p:txBody>
          <a:bodyPr wrap="square" lIns="508" tIns="508" rIns="508" bIns="508" rtlCol="0" anchor="ctr">
            <a:normAutofit/>
          </a:bodyPr>
          <a:lstStyle/>
          <a:p>
            <a:pPr marL="177800" indent="-177800">
              <a:buSzPct val="100000"/>
              <a:buChar char="•"/>
            </a:pPr>
            <a:r>
              <a:rPr lang="en-US" sz="1320" dirty="0">
                <a:solidFill>
                  <a:srgbClr val="334155"/>
                </a:solidFill>
              </a:rPr>
              <a:t>Quản lý trạm đo</a:t>
            </a:r>
            <a:endParaRPr lang="en-US" sz="1320" dirty="0"/>
          </a:p>
          <a:p>
            <a:pPr marL="177800" indent="-177800">
              <a:buSzPct val="100000"/>
              <a:buChar char="•"/>
            </a:pPr>
            <a:r>
              <a:rPr lang="en-US" sz="1320" dirty="0">
                <a:solidFill>
                  <a:srgbClr val="334155"/>
                </a:solidFill>
              </a:rPr>
              <a:t>Quản lý tài khoản</a:t>
            </a:r>
            <a:endParaRPr lang="en-US" sz="1320" dirty="0"/>
          </a:p>
          <a:p>
            <a:pPr marL="177800" indent="-177800">
              <a:buSzPct val="100000"/>
              <a:buChar char="•"/>
            </a:pPr>
            <a:r>
              <a:rPr lang="en-US" sz="1320" dirty="0">
                <a:solidFill>
                  <a:srgbClr val="334155"/>
                </a:solidFill>
              </a:rPr>
              <a:t>Đồng bộ dữ liệu</a:t>
            </a:r>
            <a:endParaRPr lang="en-US" sz="1320" dirty="0"/>
          </a:p>
          <a:p>
            <a:pPr marL="177800" indent="-177800">
              <a:buSzPct val="100000"/>
              <a:buChar char="•"/>
            </a:pPr>
            <a:r>
              <a:rPr lang="en-US" sz="1320" dirty="0">
                <a:solidFill>
                  <a:srgbClr val="334155"/>
                </a:solidFill>
              </a:rPr>
              <a:t>CRUD &amp; audit log</a:t>
            </a:r>
            <a:endParaRPr lang="en-US" sz="1320" dirty="0"/>
          </a:p>
        </p:txBody>
      </p:sp>
      <p:sp>
        <p:nvSpPr>
          <p:cNvPr id="17" name="Shape 15"/>
          <p:cNvSpPr/>
          <p:nvPr/>
        </p:nvSpPr>
        <p:spPr>
          <a:xfrm>
            <a:off x="502920" y="6355080"/>
            <a:ext cx="11155680" cy="0"/>
          </a:xfrm>
          <a:prstGeom prst="line">
            <a:avLst/>
          </a:prstGeom>
          <a:noFill/>
          <a:ln w="12700">
            <a:solidFill>
              <a:srgbClr val="E2E8F0"/>
            </a:solidFill>
            <a:prstDash val="solid"/>
          </a:ln>
        </p:spPr>
      </p:sp>
      <p:sp>
        <p:nvSpPr>
          <p:cNvPr id="18" name="Text 16"/>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Luồng xử lý cốt lõi</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DFD &amp; Sequence làm rõ dữ liệu đi qua hệ thống thế nào</a:t>
            </a:r>
            <a:endParaRPr lang="en-US" sz="1050" dirty="0"/>
          </a:p>
        </p:txBody>
      </p:sp>
      <p:pic>
        <p:nvPicPr>
          <p:cNvPr id="5" name="Image 0" descr="/mnt/data/doc_images/image30.png">    </p:cNvPr>
          <p:cNvPicPr>
            <a:picLocks noChangeAspect="1"/>
          </p:cNvPicPr>
          <p:nvPr/>
        </p:nvPicPr>
        <p:blipFill>
          <a:blip r:embed="rId1"/>
          <a:srcRect l="0" r="53478" t="5000" b="10000"/>
          <a:stretch/>
        </p:blipFill>
        <p:spPr>
          <a:xfrm>
            <a:off x="502920" y="1051560"/>
            <a:ext cx="6583680" cy="4343400"/>
          </a:xfrm>
          <a:prstGeom prst="rect">
            <a:avLst/>
          </a:prstGeom>
        </p:spPr>
      </p:pic>
      <p:sp>
        <p:nvSpPr>
          <p:cNvPr id="6" name="Text 3"/>
          <p:cNvSpPr/>
          <p:nvPr/>
        </p:nvSpPr>
        <p:spPr>
          <a:xfrm>
            <a:off x="7360920" y="1280160"/>
            <a:ext cx="3931920" cy="274320"/>
          </a:xfrm>
          <a:prstGeom prst="rect">
            <a:avLst/>
          </a:prstGeom>
          <a:noFill/>
          <a:ln/>
        </p:spPr>
        <p:txBody>
          <a:bodyPr wrap="square" lIns="0" tIns="0" rIns="0" bIns="0" rtlCol="0" anchor="ctr"/>
          <a:lstStyle/>
          <a:p>
            <a:pPr indent="0" marL="0">
              <a:buNone/>
            </a:pPr>
            <a:r>
              <a:rPr lang="en-US" sz="1800" b="1" dirty="0">
                <a:solidFill>
                  <a:srgbClr val="102A43"/>
                </a:solidFill>
              </a:rPr>
              <a:t>Ví dụ: trực quan hóa GIS</a:t>
            </a:r>
            <a:endParaRPr lang="en-US" sz="1800" dirty="0"/>
          </a:p>
        </p:txBody>
      </p:sp>
      <p:sp>
        <p:nvSpPr>
          <p:cNvPr id="7" name="Text 4"/>
          <p:cNvSpPr/>
          <p:nvPr/>
        </p:nvSpPr>
        <p:spPr>
          <a:xfrm>
            <a:off x="7406640" y="1783080"/>
            <a:ext cx="3931920" cy="2011680"/>
          </a:xfrm>
          <a:prstGeom prst="rect">
            <a:avLst/>
          </a:prstGeom>
          <a:noFill/>
          <a:ln/>
        </p:spPr>
        <p:txBody>
          <a:bodyPr wrap="square" lIns="508" tIns="508" rIns="508" bIns="508" rtlCol="0" anchor="ctr">
            <a:normAutofit/>
          </a:bodyPr>
          <a:lstStyle/>
          <a:p>
            <a:pPr marL="177800" indent="-177800">
              <a:buSzPct val="100000"/>
              <a:buChar char="•"/>
            </a:pPr>
            <a:r>
              <a:rPr lang="en-US" sz="1420" dirty="0">
                <a:solidFill>
                  <a:srgbClr val="334155"/>
                </a:solidFill>
              </a:rPr>
              <a:t>Người dùng chọn biến thời tiết, mốc thời gian và chế độ hiển thị.</a:t>
            </a:r>
            <a:endParaRPr lang="en-US" sz="1420" dirty="0"/>
          </a:p>
          <a:p>
            <a:pPr marL="177800" indent="-177800">
              <a:buSzPct val="100000"/>
              <a:buChar char="•"/>
            </a:pPr>
            <a:r>
              <a:rPr lang="en-US" sz="1420" dirty="0">
                <a:solidFill>
                  <a:srgbClr val="334155"/>
                </a:solidFill>
              </a:rPr>
              <a:t>Backend truy vấn không gian - thời gian từ PostGIS.</a:t>
            </a:r>
            <a:endParaRPr lang="en-US" sz="1420" dirty="0"/>
          </a:p>
          <a:p>
            <a:pPr marL="177800" indent="-177800">
              <a:buSzPct val="100000"/>
              <a:buChar char="•"/>
            </a:pPr>
            <a:r>
              <a:rPr lang="en-US" sz="1420" dirty="0">
                <a:solidFill>
                  <a:srgbClr val="334155"/>
                </a:solidFill>
              </a:rPr>
              <a:t>Dữ liệu được chuẩn hóa thành GeoJSON.</a:t>
            </a:r>
            <a:endParaRPr lang="en-US" sz="1420" dirty="0"/>
          </a:p>
          <a:p>
            <a:pPr marL="177800" indent="-177800">
              <a:buSzPct val="100000"/>
              <a:buChar char="•"/>
            </a:pPr>
            <a:r>
              <a:rPr lang="en-US" sz="1420" dirty="0">
                <a:solidFill>
                  <a:srgbClr val="334155"/>
                </a:solidFill>
              </a:rPr>
              <a:t>WebGIS kết xuất marker, heatmap, grid hoặc 3D bar.</a:t>
            </a:r>
            <a:endParaRPr lang="en-US" sz="1420" dirty="0"/>
          </a:p>
        </p:txBody>
      </p:sp>
      <p:sp>
        <p:nvSpPr>
          <p:cNvPr id="8" name="Shape 5"/>
          <p:cNvSpPr/>
          <p:nvPr/>
        </p:nvSpPr>
        <p:spPr>
          <a:xfrm>
            <a:off x="7406640" y="4251960"/>
            <a:ext cx="3840480" cy="1078992"/>
          </a:xfrm>
          <a:prstGeom prst="roundRect">
            <a:avLst>
              <a:gd name="adj" fmla="val 10169"/>
            </a:avLst>
          </a:prstGeom>
          <a:solidFill>
            <a:srgbClr val="FFFFFF"/>
          </a:solidFill>
          <a:ln w="12700">
            <a:solidFill>
              <a:srgbClr val="E2E8F0"/>
            </a:solidFill>
            <a:prstDash val="solid"/>
          </a:ln>
        </p:spPr>
      </p:sp>
      <p:sp>
        <p:nvSpPr>
          <p:cNvPr id="9" name="Shape 6"/>
          <p:cNvSpPr/>
          <p:nvPr/>
        </p:nvSpPr>
        <p:spPr>
          <a:xfrm>
            <a:off x="7406640" y="4251960"/>
            <a:ext cx="64008" cy="1078992"/>
          </a:xfrm>
          <a:prstGeom prst="rect">
            <a:avLst/>
          </a:prstGeom>
          <a:solidFill>
            <a:srgbClr val="0F766E"/>
          </a:solidFill>
          <a:ln w="12700">
            <a:solidFill>
              <a:srgbClr val="0F766E"/>
            </a:solidFill>
            <a:prstDash val="solid"/>
          </a:ln>
        </p:spPr>
      </p:sp>
      <p:sp>
        <p:nvSpPr>
          <p:cNvPr id="10" name="Text 7"/>
          <p:cNvSpPr/>
          <p:nvPr/>
        </p:nvSpPr>
        <p:spPr>
          <a:xfrm>
            <a:off x="7607808" y="4416552"/>
            <a:ext cx="3520440" cy="256032"/>
          </a:xfrm>
          <a:prstGeom prst="rect">
            <a:avLst/>
          </a:prstGeom>
          <a:noFill/>
          <a:ln/>
        </p:spPr>
        <p:txBody>
          <a:bodyPr wrap="square" lIns="0" tIns="0" rIns="0" bIns="0" rtlCol="0" anchor="ctr">
            <a:normAutofit/>
          </a:bodyPr>
          <a:lstStyle/>
          <a:p>
            <a:pPr indent="0" marL="0">
              <a:buNone/>
            </a:pPr>
            <a:r>
              <a:rPr lang="en-US" sz="1400" b="1" dirty="0">
                <a:solidFill>
                  <a:srgbClr val="0F766E"/>
                </a:solidFill>
              </a:rPr>
              <a:t>Ý nghĩa</a:t>
            </a:r>
            <a:endParaRPr lang="en-US" sz="1400" dirty="0"/>
          </a:p>
        </p:txBody>
      </p:sp>
      <p:sp>
        <p:nvSpPr>
          <p:cNvPr id="11" name="Text 8"/>
          <p:cNvSpPr/>
          <p:nvPr/>
        </p:nvSpPr>
        <p:spPr>
          <a:xfrm>
            <a:off x="7607808" y="4754880"/>
            <a:ext cx="3520440" cy="512064"/>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DFD cho thấy luồng dữ liệu; Sequence cho thấy thứ tự tương tác giữa Client, Controller, Service, Database và Renderer.</a:t>
            </a:r>
            <a:endParaRPr lang="en-US" sz="1150" dirty="0"/>
          </a:p>
        </p:txBody>
      </p:sp>
      <p:sp>
        <p:nvSpPr>
          <p:cNvPr id="12" name="Shape 9"/>
          <p:cNvSpPr/>
          <p:nvPr/>
        </p:nvSpPr>
        <p:spPr>
          <a:xfrm>
            <a:off x="502920" y="6355080"/>
            <a:ext cx="11155680" cy="0"/>
          </a:xfrm>
          <a:prstGeom prst="line">
            <a:avLst/>
          </a:prstGeom>
          <a:noFill/>
          <a:ln w="12700">
            <a:solidFill>
              <a:srgbClr val="E2E8F0"/>
            </a:solidFill>
            <a:prstDash val="solid"/>
          </a:ln>
        </p:spPr>
      </p:sp>
      <p:sp>
        <p:nvSpPr>
          <p:cNvPr id="13" name="Text 10"/>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Công nghệ sử dụng</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Chọn công nghệ theo từng lớp của kiến trúc</a:t>
            </a:r>
            <a:endParaRPr lang="en-US" sz="1050" dirty="0"/>
          </a:p>
        </p:txBody>
      </p:sp>
      <p:sp>
        <p:nvSpPr>
          <p:cNvPr id="5" name="Shape 3"/>
          <p:cNvSpPr/>
          <p:nvPr/>
        </p:nvSpPr>
        <p:spPr>
          <a:xfrm>
            <a:off x="594360" y="1188720"/>
            <a:ext cx="2423160" cy="4480560"/>
          </a:xfrm>
          <a:prstGeom prst="roundRect">
            <a:avLst>
              <a:gd name="adj" fmla="val 5283"/>
            </a:avLst>
          </a:prstGeom>
          <a:solidFill>
            <a:srgbClr val="FFFFFF"/>
          </a:solidFill>
          <a:ln w="12700">
            <a:solidFill>
              <a:srgbClr val="E2E8F0"/>
            </a:solidFill>
            <a:prstDash val="solid"/>
          </a:ln>
        </p:spPr>
      </p:sp>
      <p:sp>
        <p:nvSpPr>
          <p:cNvPr id="6" name="Text 4"/>
          <p:cNvSpPr/>
          <p:nvPr/>
        </p:nvSpPr>
        <p:spPr>
          <a:xfrm>
            <a:off x="758952" y="1417320"/>
            <a:ext cx="2084832" cy="256032"/>
          </a:xfrm>
          <a:prstGeom prst="rect">
            <a:avLst/>
          </a:prstGeom>
          <a:noFill/>
          <a:ln/>
        </p:spPr>
        <p:txBody>
          <a:bodyPr wrap="square" lIns="0" tIns="0" rIns="0" bIns="0" rtlCol="0" anchor="ctr"/>
          <a:lstStyle/>
          <a:p>
            <a:pPr algn="ctr" indent="0" marL="0">
              <a:buNone/>
            </a:pPr>
            <a:r>
              <a:rPr lang="en-US" sz="1600" b="1" dirty="0">
                <a:solidFill>
                  <a:srgbClr val="1D4ED8"/>
                </a:solidFill>
              </a:rPr>
              <a:t>Frontend</a:t>
            </a:r>
            <a:endParaRPr lang="en-US" sz="1600" dirty="0"/>
          </a:p>
        </p:txBody>
      </p:sp>
      <p:pic>
        <p:nvPicPr>
          <p:cNvPr id="7" name="Image 0" descr="/mnt/data/doc_images/image87.png">    </p:cNvPr>
          <p:cNvPicPr>
            <a:picLocks noChangeAspect="1"/>
          </p:cNvPicPr>
          <p:nvPr/>
        </p:nvPicPr>
        <p:blipFill>
          <a:blip r:embed="rId1"/>
          <a:stretch>
            <a:fillRect/>
          </a:stretch>
        </p:blipFill>
        <p:spPr>
          <a:xfrm>
            <a:off x="1279087" y="1828800"/>
            <a:ext cx="1017130" cy="914400"/>
          </a:xfrm>
          <a:prstGeom prst="rect">
            <a:avLst/>
          </a:prstGeom>
        </p:spPr>
      </p:pic>
      <p:sp>
        <p:nvSpPr>
          <p:cNvPr id="8" name="Text 5"/>
          <p:cNvSpPr/>
          <p:nvPr/>
        </p:nvSpPr>
        <p:spPr>
          <a:xfrm>
            <a:off x="777240" y="2999232"/>
            <a:ext cx="2057400" cy="1463040"/>
          </a:xfrm>
          <a:prstGeom prst="rect">
            <a:avLst/>
          </a:prstGeom>
          <a:noFill/>
          <a:ln/>
        </p:spPr>
        <p:txBody>
          <a:bodyPr wrap="square" lIns="0" tIns="0" rIns="0" bIns="0" rtlCol="0" anchor="ctr">
            <a:normAutofit/>
          </a:bodyPr>
          <a:lstStyle/>
          <a:p>
            <a:pPr algn="ctr" indent="0" marL="0">
              <a:buNone/>
            </a:pPr>
            <a:r>
              <a:rPr lang="en-US" sz="1200" dirty="0">
                <a:solidFill>
                  <a:srgbClr val="334155"/>
                </a:solidFill>
              </a:rPr>
              <a:t>React</a:t>
            </a:r>
            <a:endParaRPr lang="en-US" sz="1200" dirty="0"/>
          </a:p>
          <a:p>
            <a:pPr algn="ctr" indent="0" marL="0">
              <a:buNone/>
            </a:pPr>
            <a:r>
              <a:rPr lang="en-US" sz="1200" dirty="0">
                <a:solidFill>
                  <a:srgbClr val="334155"/>
                </a:solidFill>
              </a:rPr>
              <a:t>Leaflet / React-Leaflet</a:t>
            </a:r>
            <a:endParaRPr lang="en-US" sz="1200" dirty="0"/>
          </a:p>
          <a:p>
            <a:pPr algn="ctr" indent="0" marL="0">
              <a:buNone/>
            </a:pPr>
            <a:r>
              <a:rPr lang="en-US" sz="1200" dirty="0">
                <a:solidFill>
                  <a:srgbClr val="334155"/>
                </a:solidFill>
              </a:rPr>
              <a:t>Chart.js / Axios / Vite</a:t>
            </a:r>
            <a:endParaRPr lang="en-US" sz="1200" dirty="0"/>
          </a:p>
        </p:txBody>
      </p:sp>
      <p:sp>
        <p:nvSpPr>
          <p:cNvPr id="9" name="Shape 6"/>
          <p:cNvSpPr/>
          <p:nvPr/>
        </p:nvSpPr>
        <p:spPr>
          <a:xfrm>
            <a:off x="3474720" y="1188720"/>
            <a:ext cx="2423160" cy="4480560"/>
          </a:xfrm>
          <a:prstGeom prst="roundRect">
            <a:avLst>
              <a:gd name="adj" fmla="val 5283"/>
            </a:avLst>
          </a:prstGeom>
          <a:solidFill>
            <a:srgbClr val="FFFFFF"/>
          </a:solidFill>
          <a:ln w="12700">
            <a:solidFill>
              <a:srgbClr val="E2E8F0"/>
            </a:solidFill>
            <a:prstDash val="solid"/>
          </a:ln>
        </p:spPr>
      </p:sp>
      <p:sp>
        <p:nvSpPr>
          <p:cNvPr id="10" name="Text 7"/>
          <p:cNvSpPr/>
          <p:nvPr/>
        </p:nvSpPr>
        <p:spPr>
          <a:xfrm>
            <a:off x="3639312" y="1417320"/>
            <a:ext cx="2084832" cy="256032"/>
          </a:xfrm>
          <a:prstGeom prst="rect">
            <a:avLst/>
          </a:prstGeom>
          <a:noFill/>
          <a:ln/>
        </p:spPr>
        <p:txBody>
          <a:bodyPr wrap="square" lIns="0" tIns="0" rIns="0" bIns="0" rtlCol="0" anchor="ctr"/>
          <a:lstStyle/>
          <a:p>
            <a:pPr algn="ctr" indent="0" marL="0">
              <a:buNone/>
            </a:pPr>
            <a:r>
              <a:rPr lang="en-US" sz="1600" b="1" dirty="0">
                <a:solidFill>
                  <a:srgbClr val="16A34A"/>
                </a:solidFill>
              </a:rPr>
              <a:t>Backend</a:t>
            </a:r>
            <a:endParaRPr lang="en-US" sz="1600" dirty="0"/>
          </a:p>
        </p:txBody>
      </p:sp>
      <p:pic>
        <p:nvPicPr>
          <p:cNvPr id="11" name="Image 1" descr="/mnt/data/doc_images/image123.png">    </p:cNvPr>
          <p:cNvPicPr>
            <a:picLocks noChangeAspect="1"/>
          </p:cNvPicPr>
          <p:nvPr/>
        </p:nvPicPr>
        <p:blipFill>
          <a:blip r:embed="rId2"/>
          <a:stretch>
            <a:fillRect/>
          </a:stretch>
        </p:blipFill>
        <p:spPr>
          <a:xfrm>
            <a:off x="4096512" y="2131409"/>
            <a:ext cx="1143000" cy="309182"/>
          </a:xfrm>
          <a:prstGeom prst="rect">
            <a:avLst/>
          </a:prstGeom>
        </p:spPr>
      </p:pic>
      <p:sp>
        <p:nvSpPr>
          <p:cNvPr id="12" name="Text 8"/>
          <p:cNvSpPr/>
          <p:nvPr/>
        </p:nvSpPr>
        <p:spPr>
          <a:xfrm>
            <a:off x="3657600" y="2999232"/>
            <a:ext cx="2057400" cy="1463040"/>
          </a:xfrm>
          <a:prstGeom prst="rect">
            <a:avLst/>
          </a:prstGeom>
          <a:noFill/>
          <a:ln/>
        </p:spPr>
        <p:txBody>
          <a:bodyPr wrap="square" lIns="0" tIns="0" rIns="0" bIns="0" rtlCol="0" anchor="ctr">
            <a:normAutofit/>
          </a:bodyPr>
          <a:lstStyle/>
          <a:p>
            <a:pPr algn="ctr" indent="0" marL="0">
              <a:buNone/>
            </a:pPr>
            <a:r>
              <a:rPr lang="en-US" sz="1200" dirty="0">
                <a:solidFill>
                  <a:srgbClr val="334155"/>
                </a:solidFill>
              </a:rPr>
              <a:t>Node.js</a:t>
            </a:r>
            <a:endParaRPr lang="en-US" sz="1200" dirty="0"/>
          </a:p>
          <a:p>
            <a:pPr algn="ctr" indent="0" marL="0">
              <a:buNone/>
            </a:pPr>
            <a:r>
              <a:rPr lang="en-US" sz="1200" dirty="0">
                <a:solidFill>
                  <a:srgbClr val="334155"/>
                </a:solidFill>
              </a:rPr>
              <a:t>ExpressJS</a:t>
            </a:r>
            <a:endParaRPr lang="en-US" sz="1200" dirty="0"/>
          </a:p>
          <a:p>
            <a:pPr algn="ctr" indent="0" marL="0">
              <a:buNone/>
            </a:pPr>
            <a:r>
              <a:rPr lang="en-US" sz="1200" dirty="0">
                <a:solidFill>
                  <a:srgbClr val="334155"/>
                </a:solidFill>
              </a:rPr>
              <a:t>Sequelize / JWT</a:t>
            </a:r>
            <a:endParaRPr lang="en-US" sz="1200" dirty="0"/>
          </a:p>
          <a:p>
            <a:pPr algn="ctr" indent="0" marL="0">
              <a:buNone/>
            </a:pPr>
            <a:r>
              <a:rPr lang="en-US" sz="1200" dirty="0">
                <a:solidFill>
                  <a:srgbClr val="334155"/>
                </a:solidFill>
              </a:rPr>
              <a:t>Cron jobs</a:t>
            </a:r>
            <a:endParaRPr lang="en-US" sz="1200" dirty="0"/>
          </a:p>
        </p:txBody>
      </p:sp>
      <p:sp>
        <p:nvSpPr>
          <p:cNvPr id="13" name="Shape 9"/>
          <p:cNvSpPr/>
          <p:nvPr/>
        </p:nvSpPr>
        <p:spPr>
          <a:xfrm>
            <a:off x="6355080" y="1188720"/>
            <a:ext cx="2423160" cy="4480560"/>
          </a:xfrm>
          <a:prstGeom prst="roundRect">
            <a:avLst>
              <a:gd name="adj" fmla="val 5283"/>
            </a:avLst>
          </a:prstGeom>
          <a:solidFill>
            <a:srgbClr val="FFFFFF"/>
          </a:solidFill>
          <a:ln w="12700">
            <a:solidFill>
              <a:srgbClr val="E2E8F0"/>
            </a:solidFill>
            <a:prstDash val="solid"/>
          </a:ln>
        </p:spPr>
      </p:sp>
      <p:sp>
        <p:nvSpPr>
          <p:cNvPr id="14" name="Text 10"/>
          <p:cNvSpPr/>
          <p:nvPr/>
        </p:nvSpPr>
        <p:spPr>
          <a:xfrm>
            <a:off x="6519672" y="1417320"/>
            <a:ext cx="2084832" cy="256032"/>
          </a:xfrm>
          <a:prstGeom prst="rect">
            <a:avLst/>
          </a:prstGeom>
          <a:noFill/>
          <a:ln/>
        </p:spPr>
        <p:txBody>
          <a:bodyPr wrap="square" lIns="0" tIns="0" rIns="0" bIns="0" rtlCol="0" anchor="ctr"/>
          <a:lstStyle/>
          <a:p>
            <a:pPr algn="ctr" indent="0" marL="0">
              <a:buNone/>
            </a:pPr>
            <a:r>
              <a:rPr lang="en-US" sz="1600" b="1" dirty="0">
                <a:solidFill>
                  <a:srgbClr val="F97316"/>
                </a:solidFill>
              </a:rPr>
              <a:t>Database</a:t>
            </a:r>
            <a:endParaRPr lang="en-US" sz="1600" dirty="0"/>
          </a:p>
        </p:txBody>
      </p:sp>
      <p:pic>
        <p:nvPicPr>
          <p:cNvPr id="15" name="Image 2" descr="/mnt/data/doc_images/image130.jpg">    </p:cNvPr>
          <p:cNvPicPr>
            <a:picLocks noChangeAspect="1"/>
          </p:cNvPicPr>
          <p:nvPr/>
        </p:nvPicPr>
        <p:blipFill>
          <a:blip r:embed="rId3"/>
          <a:stretch>
            <a:fillRect/>
          </a:stretch>
        </p:blipFill>
        <p:spPr>
          <a:xfrm>
            <a:off x="6976872" y="1952625"/>
            <a:ext cx="1143000" cy="666750"/>
          </a:xfrm>
          <a:prstGeom prst="rect">
            <a:avLst/>
          </a:prstGeom>
        </p:spPr>
      </p:pic>
      <p:sp>
        <p:nvSpPr>
          <p:cNvPr id="16" name="Text 11"/>
          <p:cNvSpPr/>
          <p:nvPr/>
        </p:nvSpPr>
        <p:spPr>
          <a:xfrm>
            <a:off x="6537960" y="2999232"/>
            <a:ext cx="2057400" cy="1463040"/>
          </a:xfrm>
          <a:prstGeom prst="rect">
            <a:avLst/>
          </a:prstGeom>
          <a:noFill/>
          <a:ln/>
        </p:spPr>
        <p:txBody>
          <a:bodyPr wrap="square" lIns="0" tIns="0" rIns="0" bIns="0" rtlCol="0" anchor="ctr">
            <a:normAutofit/>
          </a:bodyPr>
          <a:lstStyle/>
          <a:p>
            <a:pPr algn="ctr" indent="0" marL="0">
              <a:buNone/>
            </a:pPr>
            <a:r>
              <a:rPr lang="en-US" sz="1200" dirty="0">
                <a:solidFill>
                  <a:srgbClr val="334155"/>
                </a:solidFill>
              </a:rPr>
              <a:t>PostgreSQL</a:t>
            </a:r>
            <a:endParaRPr lang="en-US" sz="1200" dirty="0"/>
          </a:p>
          <a:p>
            <a:pPr algn="ctr" indent="0" marL="0">
              <a:buNone/>
            </a:pPr>
            <a:r>
              <a:rPr lang="en-US" sz="1200" dirty="0">
                <a:solidFill>
                  <a:srgbClr val="334155"/>
                </a:solidFill>
              </a:rPr>
              <a:t>PostGIS</a:t>
            </a:r>
            <a:endParaRPr lang="en-US" sz="1200" dirty="0"/>
          </a:p>
          <a:p>
            <a:pPr algn="ctr" indent="0" marL="0">
              <a:buNone/>
            </a:pPr>
            <a:r>
              <a:rPr lang="en-US" sz="1200" dirty="0">
                <a:solidFill>
                  <a:srgbClr val="334155"/>
                </a:solidFill>
              </a:rPr>
              <a:t>GiST index</a:t>
            </a:r>
            <a:endParaRPr lang="en-US" sz="1200" dirty="0"/>
          </a:p>
          <a:p>
            <a:pPr algn="ctr" indent="0" marL="0">
              <a:buNone/>
            </a:pPr>
            <a:r>
              <a:rPr lang="en-US" sz="1200" dirty="0">
                <a:solidFill>
                  <a:srgbClr val="334155"/>
                </a:solidFill>
              </a:rPr>
              <a:t>Docker</a:t>
            </a:r>
            <a:endParaRPr lang="en-US" sz="1200" dirty="0"/>
          </a:p>
        </p:txBody>
      </p:sp>
      <p:sp>
        <p:nvSpPr>
          <p:cNvPr id="17" name="Shape 12"/>
          <p:cNvSpPr/>
          <p:nvPr/>
        </p:nvSpPr>
        <p:spPr>
          <a:xfrm>
            <a:off x="9235440" y="1188720"/>
            <a:ext cx="2423160" cy="4480560"/>
          </a:xfrm>
          <a:prstGeom prst="roundRect">
            <a:avLst>
              <a:gd name="adj" fmla="val 5283"/>
            </a:avLst>
          </a:prstGeom>
          <a:solidFill>
            <a:srgbClr val="FFFFFF"/>
          </a:solidFill>
          <a:ln w="12700">
            <a:solidFill>
              <a:srgbClr val="E2E8F0"/>
            </a:solidFill>
            <a:prstDash val="solid"/>
          </a:ln>
        </p:spPr>
      </p:sp>
      <p:sp>
        <p:nvSpPr>
          <p:cNvPr id="18" name="Text 13"/>
          <p:cNvSpPr/>
          <p:nvPr/>
        </p:nvSpPr>
        <p:spPr>
          <a:xfrm>
            <a:off x="9400032" y="1417320"/>
            <a:ext cx="2084832" cy="256032"/>
          </a:xfrm>
          <a:prstGeom prst="rect">
            <a:avLst/>
          </a:prstGeom>
          <a:noFill/>
          <a:ln/>
        </p:spPr>
        <p:txBody>
          <a:bodyPr wrap="square" lIns="0" tIns="0" rIns="0" bIns="0" rtlCol="0" anchor="ctr"/>
          <a:lstStyle/>
          <a:p>
            <a:pPr algn="ctr" indent="0" marL="0">
              <a:buNone/>
            </a:pPr>
            <a:r>
              <a:rPr lang="en-US" sz="1600" b="1" dirty="0">
                <a:solidFill>
                  <a:srgbClr val="0F766E"/>
                </a:solidFill>
              </a:rPr>
              <a:t>Weather API</a:t>
            </a:r>
            <a:endParaRPr lang="en-US" sz="1600" dirty="0"/>
          </a:p>
        </p:txBody>
      </p:sp>
      <p:pic>
        <p:nvPicPr>
          <p:cNvPr id="19" name="Image 3" descr="/mnt/data/doc_images/image112.png">    </p:cNvPr>
          <p:cNvPicPr>
            <a:picLocks noChangeAspect="1"/>
          </p:cNvPicPr>
          <p:nvPr/>
        </p:nvPicPr>
        <p:blipFill>
          <a:blip r:embed="rId4"/>
          <a:stretch>
            <a:fillRect/>
          </a:stretch>
        </p:blipFill>
        <p:spPr>
          <a:xfrm>
            <a:off x="9857232" y="1964923"/>
            <a:ext cx="1143000" cy="642155"/>
          </a:xfrm>
          <a:prstGeom prst="rect">
            <a:avLst/>
          </a:prstGeom>
        </p:spPr>
      </p:pic>
      <p:sp>
        <p:nvSpPr>
          <p:cNvPr id="20" name="Text 14"/>
          <p:cNvSpPr/>
          <p:nvPr/>
        </p:nvSpPr>
        <p:spPr>
          <a:xfrm>
            <a:off x="9418320" y="2999232"/>
            <a:ext cx="2057400" cy="1463040"/>
          </a:xfrm>
          <a:prstGeom prst="rect">
            <a:avLst/>
          </a:prstGeom>
          <a:noFill/>
          <a:ln/>
        </p:spPr>
        <p:txBody>
          <a:bodyPr wrap="square" lIns="0" tIns="0" rIns="0" bIns="0" rtlCol="0" anchor="ctr">
            <a:normAutofit/>
          </a:bodyPr>
          <a:lstStyle/>
          <a:p>
            <a:pPr algn="ctr" indent="0" marL="0">
              <a:buNone/>
            </a:pPr>
            <a:r>
              <a:rPr lang="en-US" sz="1200" dirty="0">
                <a:solidFill>
                  <a:srgbClr val="334155"/>
                </a:solidFill>
              </a:rPr>
              <a:t>Open-Meteo</a:t>
            </a:r>
            <a:endParaRPr lang="en-US" sz="1200" dirty="0"/>
          </a:p>
          <a:p>
            <a:pPr algn="ctr" indent="0" marL="0">
              <a:buNone/>
            </a:pPr>
            <a:r>
              <a:rPr lang="en-US" sz="1200" dirty="0">
                <a:solidFill>
                  <a:srgbClr val="334155"/>
                </a:solidFill>
              </a:rPr>
              <a:t>Visual Crossing</a:t>
            </a:r>
            <a:endParaRPr lang="en-US" sz="1200" dirty="0"/>
          </a:p>
          <a:p>
            <a:pPr algn="ctr" indent="0" marL="0">
              <a:buNone/>
            </a:pPr>
            <a:r>
              <a:rPr lang="en-US" sz="1200" dirty="0">
                <a:solidFill>
                  <a:srgbClr val="334155"/>
                </a:solidFill>
              </a:rPr>
              <a:t>Fallback &amp; offline data</a:t>
            </a:r>
            <a:endParaRPr lang="en-US" sz="1200" dirty="0"/>
          </a:p>
        </p:txBody>
      </p:sp>
      <p:sp>
        <p:nvSpPr>
          <p:cNvPr id="21" name="Shape 15"/>
          <p:cNvSpPr/>
          <p:nvPr/>
        </p:nvSpPr>
        <p:spPr>
          <a:xfrm>
            <a:off x="502920" y="6355080"/>
            <a:ext cx="11155680" cy="0"/>
          </a:xfrm>
          <a:prstGeom prst="line">
            <a:avLst/>
          </a:prstGeom>
          <a:noFill/>
          <a:ln w="12700">
            <a:solidFill>
              <a:srgbClr val="E2E8F0"/>
            </a:solidFill>
            <a:prstDash val="solid"/>
          </a:ln>
        </p:spPr>
      </p:sp>
      <p:sp>
        <p:nvSpPr>
          <p:cNvPr id="22" name="Text 16"/>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Giao diện WebGIS &amp; kết quả trực quan</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Một bản đồ - nhiều lớp hiển thị</a:t>
            </a:r>
            <a:endParaRPr lang="en-US" sz="1050" dirty="0"/>
          </a:p>
        </p:txBody>
      </p:sp>
      <p:pic>
        <p:nvPicPr>
          <p:cNvPr id="5" name="Image 0" descr="/mnt/data/doc_images/image90.png">    </p:cNvPr>
          <p:cNvPicPr>
            <a:picLocks noChangeAspect="1"/>
          </p:cNvPicPr>
          <p:nvPr/>
        </p:nvPicPr>
        <p:blipFill>
          <a:blip r:embed="rId1"/>
          <a:srcRect l="5000" r="37365" t="8000" b="14000"/>
          <a:stretch/>
        </p:blipFill>
        <p:spPr>
          <a:xfrm>
            <a:off x="502920" y="1005840"/>
            <a:ext cx="5532120" cy="4206240"/>
          </a:xfrm>
          <a:prstGeom prst="rect">
            <a:avLst/>
          </a:prstGeom>
        </p:spPr>
      </p:pic>
      <p:pic>
        <p:nvPicPr>
          <p:cNvPr id="6" name="Image 1" descr="/mnt/data/doc_images/image112.png">    </p:cNvPr>
          <p:cNvPicPr>
            <a:picLocks noChangeAspect="1"/>
          </p:cNvPicPr>
          <p:nvPr/>
        </p:nvPicPr>
        <p:blipFill>
          <a:blip r:embed="rId2"/>
          <a:srcRect l="5000" r="41414" t="6000" b="19000"/>
          <a:stretch/>
        </p:blipFill>
        <p:spPr>
          <a:xfrm>
            <a:off x="6355080" y="1005840"/>
            <a:ext cx="5349240" cy="4206240"/>
          </a:xfrm>
          <a:prstGeom prst="rect">
            <a:avLst/>
          </a:prstGeom>
        </p:spPr>
      </p:pic>
      <p:sp>
        <p:nvSpPr>
          <p:cNvPr id="7" name="Shape 3"/>
          <p:cNvSpPr/>
          <p:nvPr/>
        </p:nvSpPr>
        <p:spPr>
          <a:xfrm>
            <a:off x="713232" y="5422392"/>
            <a:ext cx="2880360" cy="384048"/>
          </a:xfrm>
          <a:prstGeom prst="roundRect">
            <a:avLst>
              <a:gd name="adj" fmla="val 19048"/>
            </a:avLst>
          </a:prstGeom>
          <a:solidFill>
            <a:srgbClr val="F97316"/>
          </a:solidFill>
          <a:ln w="12700">
            <a:solidFill>
              <a:srgbClr val="F97316"/>
            </a:solidFill>
            <a:prstDash val="solid"/>
          </a:ln>
        </p:spPr>
      </p:sp>
      <p:sp>
        <p:nvSpPr>
          <p:cNvPr id="8" name="Text 4"/>
          <p:cNvSpPr/>
          <p:nvPr/>
        </p:nvSpPr>
        <p:spPr>
          <a:xfrm>
            <a:off x="786384" y="5486400"/>
            <a:ext cx="2734056" cy="274320"/>
          </a:xfrm>
          <a:prstGeom prst="rect">
            <a:avLst/>
          </a:prstGeom>
          <a:noFill/>
          <a:ln/>
        </p:spPr>
        <p:txBody>
          <a:bodyPr wrap="square" lIns="254" tIns="254" rIns="254" bIns="254" rtlCol="0" anchor="ctr">
            <a:normAutofit/>
          </a:bodyPr>
          <a:lstStyle/>
          <a:p>
            <a:pPr algn="ctr" indent="0" marL="0">
              <a:buNone/>
            </a:pPr>
            <a:r>
              <a:rPr lang="en-US" sz="1100" b="1" dirty="0">
                <a:solidFill>
                  <a:srgbClr val="FFFFFF"/>
                </a:solidFill>
              </a:rPr>
              <a:t>Heatmap + ranh giới hành chính</a:t>
            </a:r>
            <a:endParaRPr lang="en-US" sz="1100" dirty="0"/>
          </a:p>
        </p:txBody>
      </p:sp>
      <p:sp>
        <p:nvSpPr>
          <p:cNvPr id="9" name="Shape 5"/>
          <p:cNvSpPr/>
          <p:nvPr/>
        </p:nvSpPr>
        <p:spPr>
          <a:xfrm>
            <a:off x="6601968" y="5422392"/>
            <a:ext cx="2880360" cy="384048"/>
          </a:xfrm>
          <a:prstGeom prst="roundRect">
            <a:avLst>
              <a:gd name="adj" fmla="val 19048"/>
            </a:avLst>
          </a:prstGeom>
          <a:solidFill>
            <a:srgbClr val="0F766E"/>
          </a:solidFill>
          <a:ln w="12700">
            <a:solidFill>
              <a:srgbClr val="0F766E"/>
            </a:solidFill>
            <a:prstDash val="solid"/>
          </a:ln>
        </p:spPr>
      </p:sp>
      <p:sp>
        <p:nvSpPr>
          <p:cNvPr id="10" name="Text 6"/>
          <p:cNvSpPr/>
          <p:nvPr/>
        </p:nvSpPr>
        <p:spPr>
          <a:xfrm>
            <a:off x="6675120" y="5486400"/>
            <a:ext cx="2734056" cy="274320"/>
          </a:xfrm>
          <a:prstGeom prst="rect">
            <a:avLst/>
          </a:prstGeom>
          <a:noFill/>
          <a:ln/>
        </p:spPr>
        <p:txBody>
          <a:bodyPr wrap="square" lIns="254" tIns="254" rIns="254" bIns="254" rtlCol="0" anchor="ctr">
            <a:normAutofit/>
          </a:bodyPr>
          <a:lstStyle/>
          <a:p>
            <a:pPr algn="ctr" indent="0" marL="0">
              <a:buNone/>
            </a:pPr>
            <a:r>
              <a:rPr lang="en-US" sz="1100" b="1" dirty="0">
                <a:solidFill>
                  <a:srgbClr val="FFFFFF"/>
                </a:solidFill>
              </a:rPr>
              <a:t>Lưới nội suy + time-slider</a:t>
            </a:r>
            <a:endParaRPr lang="en-US" sz="1100" dirty="0"/>
          </a:p>
        </p:txBody>
      </p:sp>
      <p:sp>
        <p:nvSpPr>
          <p:cNvPr id="11" name="Text 7"/>
          <p:cNvSpPr/>
          <p:nvPr/>
        </p:nvSpPr>
        <p:spPr>
          <a:xfrm>
            <a:off x="822960" y="6035040"/>
            <a:ext cx="10424160" cy="201168"/>
          </a:xfrm>
          <a:prstGeom prst="rect">
            <a:avLst/>
          </a:prstGeom>
          <a:noFill/>
          <a:ln/>
        </p:spPr>
        <p:txBody>
          <a:bodyPr wrap="square" lIns="0" tIns="0" rIns="0" bIns="0" rtlCol="0" anchor="ctr"/>
          <a:lstStyle/>
          <a:p>
            <a:pPr algn="ctr" indent="0" marL="0">
              <a:buNone/>
            </a:pPr>
            <a:r>
              <a:rPr lang="en-US" sz="1250" b="1" dirty="0">
                <a:solidFill>
                  <a:srgbClr val="102A43"/>
                </a:solidFill>
              </a:rPr>
              <a:t>Các chế độ chính: Points • Heatmap • Choropleth • Grid • 3D Bar</a:t>
            </a:r>
            <a:endParaRPr lang="en-US" sz="1250" dirty="0"/>
          </a:p>
        </p:txBody>
      </p:sp>
      <p:sp>
        <p:nvSpPr>
          <p:cNvPr id="12" name="Shape 8"/>
          <p:cNvSpPr/>
          <p:nvPr/>
        </p:nvSpPr>
        <p:spPr>
          <a:xfrm>
            <a:off x="502920" y="6355080"/>
            <a:ext cx="11155680" cy="0"/>
          </a:xfrm>
          <a:prstGeom prst="line">
            <a:avLst/>
          </a:prstGeom>
          <a:noFill/>
          <a:ln w="12700">
            <a:solidFill>
              <a:srgbClr val="E2E8F0"/>
            </a:solidFill>
            <a:prstDash val="solid"/>
          </a:ln>
        </p:spPr>
      </p:sp>
      <p:sp>
        <p:nvSpPr>
          <p:cNvPr id="13" name="Text 9"/>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Phân tích, dự báo &amp; quản trị</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Không chỉ xem bản đồ, hệ thống còn hỗ trợ phân tích và vận hành</a:t>
            </a:r>
            <a:endParaRPr lang="en-US" sz="1050" dirty="0"/>
          </a:p>
        </p:txBody>
      </p:sp>
      <p:pic>
        <p:nvPicPr>
          <p:cNvPr id="5" name="Image 0" descr="/mnt/data/doc_images/image92.png">    </p:cNvPr>
          <p:cNvPicPr>
            <a:picLocks noChangeAspect="1"/>
          </p:cNvPicPr>
          <p:nvPr/>
        </p:nvPicPr>
        <p:blipFill>
          <a:blip r:embed="rId1"/>
          <a:srcRect l="0" r="8987" t="0" b="0"/>
          <a:stretch/>
        </p:blipFill>
        <p:spPr>
          <a:xfrm>
            <a:off x="594360" y="1143000"/>
            <a:ext cx="5440680" cy="3566160"/>
          </a:xfrm>
          <a:prstGeom prst="rect">
            <a:avLst/>
          </a:prstGeom>
        </p:spPr>
      </p:pic>
      <p:pic>
        <p:nvPicPr>
          <p:cNvPr id="6" name="Image 1" descr="/mnt/data/doc_images/image96.png">    </p:cNvPr>
          <p:cNvPicPr>
            <a:picLocks noChangeAspect="1"/>
          </p:cNvPicPr>
          <p:nvPr/>
        </p:nvPicPr>
        <p:blipFill>
          <a:blip r:embed="rId2"/>
          <a:srcRect l="0" r="18609" t="0" b="0"/>
          <a:stretch/>
        </p:blipFill>
        <p:spPr>
          <a:xfrm>
            <a:off x="6355080" y="1143000"/>
            <a:ext cx="5166360" cy="3566160"/>
          </a:xfrm>
          <a:prstGeom prst="rect">
            <a:avLst/>
          </a:prstGeom>
        </p:spPr>
      </p:pic>
      <p:sp>
        <p:nvSpPr>
          <p:cNvPr id="7" name="Shape 3"/>
          <p:cNvSpPr/>
          <p:nvPr/>
        </p:nvSpPr>
        <p:spPr>
          <a:xfrm>
            <a:off x="822960" y="5074920"/>
            <a:ext cx="4983480" cy="841248"/>
          </a:xfrm>
          <a:prstGeom prst="roundRect">
            <a:avLst>
              <a:gd name="adj" fmla="val 13043"/>
            </a:avLst>
          </a:prstGeom>
          <a:solidFill>
            <a:srgbClr val="FFFFFF"/>
          </a:solidFill>
          <a:ln w="12700">
            <a:solidFill>
              <a:srgbClr val="E2E8F0"/>
            </a:solidFill>
            <a:prstDash val="solid"/>
          </a:ln>
        </p:spPr>
      </p:sp>
      <p:sp>
        <p:nvSpPr>
          <p:cNvPr id="8" name="Shape 4"/>
          <p:cNvSpPr/>
          <p:nvPr/>
        </p:nvSpPr>
        <p:spPr>
          <a:xfrm>
            <a:off x="822960" y="5074920"/>
            <a:ext cx="64008" cy="841248"/>
          </a:xfrm>
          <a:prstGeom prst="rect">
            <a:avLst/>
          </a:prstGeom>
          <a:solidFill>
            <a:srgbClr val="F97316"/>
          </a:solidFill>
          <a:ln w="12700">
            <a:solidFill>
              <a:srgbClr val="F97316"/>
            </a:solidFill>
            <a:prstDash val="solid"/>
          </a:ln>
        </p:spPr>
      </p:sp>
      <p:sp>
        <p:nvSpPr>
          <p:cNvPr id="9" name="Text 5"/>
          <p:cNvSpPr/>
          <p:nvPr/>
        </p:nvSpPr>
        <p:spPr>
          <a:xfrm>
            <a:off x="1024128" y="5239512"/>
            <a:ext cx="4663440" cy="256032"/>
          </a:xfrm>
          <a:prstGeom prst="rect">
            <a:avLst/>
          </a:prstGeom>
          <a:noFill/>
          <a:ln/>
        </p:spPr>
        <p:txBody>
          <a:bodyPr wrap="square" lIns="0" tIns="0" rIns="0" bIns="0" rtlCol="0" anchor="ctr">
            <a:normAutofit/>
          </a:bodyPr>
          <a:lstStyle/>
          <a:p>
            <a:pPr indent="0" marL="0">
              <a:buNone/>
            </a:pPr>
            <a:r>
              <a:rPr lang="en-US" sz="1400" b="1" dirty="0">
                <a:solidFill>
                  <a:srgbClr val="F97316"/>
                </a:solidFill>
              </a:rPr>
              <a:t>Phân tích &amp; dự báo</a:t>
            </a:r>
            <a:endParaRPr lang="en-US" sz="1400" dirty="0"/>
          </a:p>
        </p:txBody>
      </p:sp>
      <p:sp>
        <p:nvSpPr>
          <p:cNvPr id="10" name="Text 6"/>
          <p:cNvSpPr/>
          <p:nvPr/>
        </p:nvSpPr>
        <p:spPr>
          <a:xfrm>
            <a:off x="1024128" y="5577840"/>
            <a:ext cx="4663440" cy="274320"/>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Biểu đồ so sánh trạm, baseline SMA/SLR, sai số MAE/RMSE, xuất dữ liệu CSV.</a:t>
            </a:r>
            <a:endParaRPr lang="en-US" sz="1150" dirty="0"/>
          </a:p>
        </p:txBody>
      </p:sp>
      <p:sp>
        <p:nvSpPr>
          <p:cNvPr id="11" name="Shape 7"/>
          <p:cNvSpPr/>
          <p:nvPr/>
        </p:nvSpPr>
        <p:spPr>
          <a:xfrm>
            <a:off x="6492240" y="5074920"/>
            <a:ext cx="4800600" cy="841248"/>
          </a:xfrm>
          <a:prstGeom prst="roundRect">
            <a:avLst>
              <a:gd name="adj" fmla="val 13043"/>
            </a:avLst>
          </a:prstGeom>
          <a:solidFill>
            <a:srgbClr val="FFFFFF"/>
          </a:solidFill>
          <a:ln w="12700">
            <a:solidFill>
              <a:srgbClr val="E2E8F0"/>
            </a:solidFill>
            <a:prstDash val="solid"/>
          </a:ln>
        </p:spPr>
      </p:sp>
      <p:sp>
        <p:nvSpPr>
          <p:cNvPr id="12" name="Shape 8"/>
          <p:cNvSpPr/>
          <p:nvPr/>
        </p:nvSpPr>
        <p:spPr>
          <a:xfrm>
            <a:off x="6492240" y="5074920"/>
            <a:ext cx="64008" cy="841248"/>
          </a:xfrm>
          <a:prstGeom prst="rect">
            <a:avLst/>
          </a:prstGeom>
          <a:solidFill>
            <a:srgbClr val="16A34A"/>
          </a:solidFill>
          <a:ln w="12700">
            <a:solidFill>
              <a:srgbClr val="16A34A"/>
            </a:solidFill>
            <a:prstDash val="solid"/>
          </a:ln>
        </p:spPr>
      </p:sp>
      <p:sp>
        <p:nvSpPr>
          <p:cNvPr id="13" name="Text 9"/>
          <p:cNvSpPr/>
          <p:nvPr/>
        </p:nvSpPr>
        <p:spPr>
          <a:xfrm>
            <a:off x="6693408" y="5239512"/>
            <a:ext cx="4480560" cy="256032"/>
          </a:xfrm>
          <a:prstGeom prst="rect">
            <a:avLst/>
          </a:prstGeom>
          <a:noFill/>
          <a:ln/>
        </p:spPr>
        <p:txBody>
          <a:bodyPr wrap="square" lIns="0" tIns="0" rIns="0" bIns="0" rtlCol="0" anchor="ctr">
            <a:normAutofit/>
          </a:bodyPr>
          <a:lstStyle/>
          <a:p>
            <a:pPr indent="0" marL="0">
              <a:buNone/>
            </a:pPr>
            <a:r>
              <a:rPr lang="en-US" sz="1400" b="1" dirty="0">
                <a:solidFill>
                  <a:srgbClr val="16A34A"/>
                </a:solidFill>
              </a:rPr>
              <a:t>Quản trị &amp; kiểm toán</a:t>
            </a:r>
            <a:endParaRPr lang="en-US" sz="1400" dirty="0"/>
          </a:p>
        </p:txBody>
      </p:sp>
      <p:sp>
        <p:nvSpPr>
          <p:cNvPr id="14" name="Text 10"/>
          <p:cNvSpPr/>
          <p:nvPr/>
        </p:nvSpPr>
        <p:spPr>
          <a:xfrm>
            <a:off x="6693408" y="5577840"/>
            <a:ext cx="4480560" cy="274320"/>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Theo dõi đồng bộ, trạng thái nguồn dữ liệu, CRUD dữ liệu thời tiết và audit trail.</a:t>
            </a:r>
            <a:endParaRPr lang="en-US" sz="1150" dirty="0"/>
          </a:p>
        </p:txBody>
      </p:sp>
      <p:sp>
        <p:nvSpPr>
          <p:cNvPr id="15" name="Shape 11"/>
          <p:cNvSpPr/>
          <p:nvPr/>
        </p:nvSpPr>
        <p:spPr>
          <a:xfrm>
            <a:off x="502920" y="6355080"/>
            <a:ext cx="11155680" cy="0"/>
          </a:xfrm>
          <a:prstGeom prst="line">
            <a:avLst/>
          </a:prstGeom>
          <a:noFill/>
          <a:ln w="12700">
            <a:solidFill>
              <a:srgbClr val="E2E8F0"/>
            </a:solidFill>
            <a:prstDash val="solid"/>
          </a:ln>
        </p:spPr>
      </p:sp>
      <p:sp>
        <p:nvSpPr>
          <p:cNvPr id="16" name="Text 12"/>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Kết quả đạt được</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Đối chiếu với mục tiêu ban đầu</a:t>
            </a:r>
            <a:endParaRPr lang="en-US" sz="1050" dirty="0"/>
          </a:p>
        </p:txBody>
      </p:sp>
      <p:sp>
        <p:nvSpPr>
          <p:cNvPr id="5" name="Shape 3"/>
          <p:cNvSpPr/>
          <p:nvPr/>
        </p:nvSpPr>
        <p:spPr>
          <a:xfrm>
            <a:off x="777240" y="1325880"/>
            <a:ext cx="4983480" cy="1325880"/>
          </a:xfrm>
          <a:prstGeom prst="roundRect">
            <a:avLst>
              <a:gd name="adj" fmla="val 8276"/>
            </a:avLst>
          </a:prstGeom>
          <a:solidFill>
            <a:srgbClr val="FFFFFF"/>
          </a:solidFill>
          <a:ln w="12700">
            <a:solidFill>
              <a:srgbClr val="E2E8F0"/>
            </a:solidFill>
            <a:prstDash val="solid"/>
          </a:ln>
        </p:spPr>
      </p:sp>
      <p:sp>
        <p:nvSpPr>
          <p:cNvPr id="6" name="Shape 4"/>
          <p:cNvSpPr/>
          <p:nvPr/>
        </p:nvSpPr>
        <p:spPr>
          <a:xfrm>
            <a:off x="777240" y="1325880"/>
            <a:ext cx="64008" cy="1325880"/>
          </a:xfrm>
          <a:prstGeom prst="rect">
            <a:avLst/>
          </a:prstGeom>
          <a:solidFill>
            <a:srgbClr val="1D4ED8"/>
          </a:solidFill>
          <a:ln w="12700">
            <a:solidFill>
              <a:srgbClr val="1D4ED8"/>
            </a:solidFill>
            <a:prstDash val="solid"/>
          </a:ln>
        </p:spPr>
      </p:sp>
      <p:sp>
        <p:nvSpPr>
          <p:cNvPr id="7" name="Text 5"/>
          <p:cNvSpPr/>
          <p:nvPr/>
        </p:nvSpPr>
        <p:spPr>
          <a:xfrm>
            <a:off x="978408" y="1490472"/>
            <a:ext cx="4663440" cy="256032"/>
          </a:xfrm>
          <a:prstGeom prst="rect">
            <a:avLst/>
          </a:prstGeom>
          <a:noFill/>
          <a:ln/>
        </p:spPr>
        <p:txBody>
          <a:bodyPr wrap="square" lIns="0" tIns="0" rIns="0" bIns="0" rtlCol="0" anchor="ctr">
            <a:normAutofit/>
          </a:bodyPr>
          <a:lstStyle/>
          <a:p>
            <a:pPr indent="0" marL="0">
              <a:buNone/>
            </a:pPr>
            <a:r>
              <a:rPr lang="en-US" sz="1400" b="1" dirty="0">
                <a:solidFill>
                  <a:srgbClr val="1D4ED8"/>
                </a:solidFill>
              </a:rPr>
              <a:t>Dữ liệu</a:t>
            </a:r>
            <a:endParaRPr lang="en-US" sz="1400" dirty="0"/>
          </a:p>
        </p:txBody>
      </p:sp>
      <p:sp>
        <p:nvSpPr>
          <p:cNvPr id="8" name="Text 6"/>
          <p:cNvSpPr/>
          <p:nvPr/>
        </p:nvSpPr>
        <p:spPr>
          <a:xfrm>
            <a:off x="978408" y="1828800"/>
            <a:ext cx="4663440" cy="75895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Đồng bộ dữ liệu thời tiết, lưu lịch sử và dự báo theo vị trí - thời gian.</a:t>
            </a:r>
            <a:endParaRPr lang="en-US" sz="1150" dirty="0"/>
          </a:p>
        </p:txBody>
      </p:sp>
      <p:sp>
        <p:nvSpPr>
          <p:cNvPr id="9" name="Shape 7"/>
          <p:cNvSpPr/>
          <p:nvPr/>
        </p:nvSpPr>
        <p:spPr>
          <a:xfrm>
            <a:off x="6355080" y="1325880"/>
            <a:ext cx="4983480" cy="1325880"/>
          </a:xfrm>
          <a:prstGeom prst="roundRect">
            <a:avLst>
              <a:gd name="adj" fmla="val 8276"/>
            </a:avLst>
          </a:prstGeom>
          <a:solidFill>
            <a:srgbClr val="FFFFFF"/>
          </a:solidFill>
          <a:ln w="12700">
            <a:solidFill>
              <a:srgbClr val="E2E8F0"/>
            </a:solidFill>
            <a:prstDash val="solid"/>
          </a:ln>
        </p:spPr>
      </p:sp>
      <p:sp>
        <p:nvSpPr>
          <p:cNvPr id="10" name="Shape 8"/>
          <p:cNvSpPr/>
          <p:nvPr/>
        </p:nvSpPr>
        <p:spPr>
          <a:xfrm>
            <a:off x="6355080" y="1325880"/>
            <a:ext cx="64008" cy="1325880"/>
          </a:xfrm>
          <a:prstGeom prst="rect">
            <a:avLst/>
          </a:prstGeom>
          <a:solidFill>
            <a:srgbClr val="F97316"/>
          </a:solidFill>
          <a:ln w="12700">
            <a:solidFill>
              <a:srgbClr val="F97316"/>
            </a:solidFill>
            <a:prstDash val="solid"/>
          </a:ln>
        </p:spPr>
      </p:sp>
      <p:sp>
        <p:nvSpPr>
          <p:cNvPr id="11" name="Text 9"/>
          <p:cNvSpPr/>
          <p:nvPr/>
        </p:nvSpPr>
        <p:spPr>
          <a:xfrm>
            <a:off x="6556248" y="1490472"/>
            <a:ext cx="4663440" cy="256032"/>
          </a:xfrm>
          <a:prstGeom prst="rect">
            <a:avLst/>
          </a:prstGeom>
          <a:noFill/>
          <a:ln/>
        </p:spPr>
        <p:txBody>
          <a:bodyPr wrap="square" lIns="0" tIns="0" rIns="0" bIns="0" rtlCol="0" anchor="ctr">
            <a:normAutofit/>
          </a:bodyPr>
          <a:lstStyle/>
          <a:p>
            <a:pPr indent="0" marL="0">
              <a:buNone/>
            </a:pPr>
            <a:r>
              <a:rPr lang="en-US" sz="1400" b="1" dirty="0">
                <a:solidFill>
                  <a:srgbClr val="F97316"/>
                </a:solidFill>
              </a:rPr>
              <a:t>GIS</a:t>
            </a:r>
            <a:endParaRPr lang="en-US" sz="1400" dirty="0"/>
          </a:p>
        </p:txBody>
      </p:sp>
      <p:sp>
        <p:nvSpPr>
          <p:cNvPr id="12" name="Text 10"/>
          <p:cNvSpPr/>
          <p:nvPr/>
        </p:nvSpPr>
        <p:spPr>
          <a:xfrm>
            <a:off x="6556248" y="1828800"/>
            <a:ext cx="4663440" cy="75895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Hiển thị đa lớp: marker, heatmap, phân vùng, grid, 3D Bar.</a:t>
            </a:r>
            <a:endParaRPr lang="en-US" sz="1150" dirty="0"/>
          </a:p>
        </p:txBody>
      </p:sp>
      <p:sp>
        <p:nvSpPr>
          <p:cNvPr id="13" name="Shape 11"/>
          <p:cNvSpPr/>
          <p:nvPr/>
        </p:nvSpPr>
        <p:spPr>
          <a:xfrm>
            <a:off x="777240" y="3337560"/>
            <a:ext cx="4983480" cy="1325880"/>
          </a:xfrm>
          <a:prstGeom prst="roundRect">
            <a:avLst>
              <a:gd name="adj" fmla="val 8276"/>
            </a:avLst>
          </a:prstGeom>
          <a:solidFill>
            <a:srgbClr val="FFFFFF"/>
          </a:solidFill>
          <a:ln w="12700">
            <a:solidFill>
              <a:srgbClr val="E2E8F0"/>
            </a:solidFill>
            <a:prstDash val="solid"/>
          </a:ln>
        </p:spPr>
      </p:sp>
      <p:sp>
        <p:nvSpPr>
          <p:cNvPr id="14" name="Shape 12"/>
          <p:cNvSpPr/>
          <p:nvPr/>
        </p:nvSpPr>
        <p:spPr>
          <a:xfrm>
            <a:off x="777240" y="3337560"/>
            <a:ext cx="64008" cy="1325880"/>
          </a:xfrm>
          <a:prstGeom prst="rect">
            <a:avLst/>
          </a:prstGeom>
          <a:solidFill>
            <a:srgbClr val="16A34A"/>
          </a:solidFill>
          <a:ln w="12700">
            <a:solidFill>
              <a:srgbClr val="16A34A"/>
            </a:solidFill>
            <a:prstDash val="solid"/>
          </a:ln>
        </p:spPr>
      </p:sp>
      <p:sp>
        <p:nvSpPr>
          <p:cNvPr id="15" name="Text 13"/>
          <p:cNvSpPr/>
          <p:nvPr/>
        </p:nvSpPr>
        <p:spPr>
          <a:xfrm>
            <a:off x="978408" y="3502152"/>
            <a:ext cx="4663440" cy="256032"/>
          </a:xfrm>
          <a:prstGeom prst="rect">
            <a:avLst/>
          </a:prstGeom>
          <a:noFill/>
          <a:ln/>
        </p:spPr>
        <p:txBody>
          <a:bodyPr wrap="square" lIns="0" tIns="0" rIns="0" bIns="0" rtlCol="0" anchor="ctr">
            <a:normAutofit/>
          </a:bodyPr>
          <a:lstStyle/>
          <a:p>
            <a:pPr indent="0" marL="0">
              <a:buNone/>
            </a:pPr>
            <a:r>
              <a:rPr lang="en-US" sz="1400" b="1" dirty="0">
                <a:solidFill>
                  <a:srgbClr val="16A34A"/>
                </a:solidFill>
              </a:rPr>
              <a:t>Phân tích</a:t>
            </a:r>
            <a:endParaRPr lang="en-US" sz="1400" dirty="0"/>
          </a:p>
        </p:txBody>
      </p:sp>
      <p:sp>
        <p:nvSpPr>
          <p:cNvPr id="16" name="Text 14"/>
          <p:cNvSpPr/>
          <p:nvPr/>
        </p:nvSpPr>
        <p:spPr>
          <a:xfrm>
            <a:off x="978408" y="3840480"/>
            <a:ext cx="4663440" cy="75895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Thống kê, so sánh chuỗi thời gian, dự báo baseline và sai số.</a:t>
            </a:r>
            <a:endParaRPr lang="en-US" sz="1150" dirty="0"/>
          </a:p>
        </p:txBody>
      </p:sp>
      <p:sp>
        <p:nvSpPr>
          <p:cNvPr id="17" name="Shape 15"/>
          <p:cNvSpPr/>
          <p:nvPr/>
        </p:nvSpPr>
        <p:spPr>
          <a:xfrm>
            <a:off x="6355080" y="3337560"/>
            <a:ext cx="4983480" cy="1325880"/>
          </a:xfrm>
          <a:prstGeom prst="roundRect">
            <a:avLst>
              <a:gd name="adj" fmla="val 8276"/>
            </a:avLst>
          </a:prstGeom>
          <a:solidFill>
            <a:srgbClr val="FFFFFF"/>
          </a:solidFill>
          <a:ln w="12700">
            <a:solidFill>
              <a:srgbClr val="E2E8F0"/>
            </a:solidFill>
            <a:prstDash val="solid"/>
          </a:ln>
        </p:spPr>
      </p:sp>
      <p:sp>
        <p:nvSpPr>
          <p:cNvPr id="18" name="Shape 16"/>
          <p:cNvSpPr/>
          <p:nvPr/>
        </p:nvSpPr>
        <p:spPr>
          <a:xfrm>
            <a:off x="6355080" y="3337560"/>
            <a:ext cx="64008" cy="1325880"/>
          </a:xfrm>
          <a:prstGeom prst="rect">
            <a:avLst/>
          </a:prstGeom>
          <a:solidFill>
            <a:srgbClr val="0F766E"/>
          </a:solidFill>
          <a:ln w="12700">
            <a:solidFill>
              <a:srgbClr val="0F766E"/>
            </a:solidFill>
            <a:prstDash val="solid"/>
          </a:ln>
        </p:spPr>
      </p:sp>
      <p:sp>
        <p:nvSpPr>
          <p:cNvPr id="19" name="Text 17"/>
          <p:cNvSpPr/>
          <p:nvPr/>
        </p:nvSpPr>
        <p:spPr>
          <a:xfrm>
            <a:off x="6556248" y="3502152"/>
            <a:ext cx="4663440" cy="256032"/>
          </a:xfrm>
          <a:prstGeom prst="rect">
            <a:avLst/>
          </a:prstGeom>
          <a:noFill/>
          <a:ln/>
        </p:spPr>
        <p:txBody>
          <a:bodyPr wrap="square" lIns="0" tIns="0" rIns="0" bIns="0" rtlCol="0" anchor="ctr">
            <a:normAutofit/>
          </a:bodyPr>
          <a:lstStyle/>
          <a:p>
            <a:pPr indent="0" marL="0">
              <a:buNone/>
            </a:pPr>
            <a:r>
              <a:rPr lang="en-US" sz="1400" b="1" dirty="0">
                <a:solidFill>
                  <a:srgbClr val="0F766E"/>
                </a:solidFill>
              </a:rPr>
              <a:t>Quản trị</a:t>
            </a:r>
            <a:endParaRPr lang="en-US" sz="1400" dirty="0"/>
          </a:p>
        </p:txBody>
      </p:sp>
      <p:sp>
        <p:nvSpPr>
          <p:cNvPr id="20" name="Text 18"/>
          <p:cNvSpPr/>
          <p:nvPr/>
        </p:nvSpPr>
        <p:spPr>
          <a:xfrm>
            <a:off x="6556248" y="3840480"/>
            <a:ext cx="4663440" cy="75895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Quản lý trạm đo, dữ liệu, tài khoản, nhật ký đồng bộ và audit log.</a:t>
            </a:r>
            <a:endParaRPr lang="en-US" sz="1150" dirty="0"/>
          </a:p>
        </p:txBody>
      </p:sp>
      <p:sp>
        <p:nvSpPr>
          <p:cNvPr id="21" name="Shape 19"/>
          <p:cNvSpPr/>
          <p:nvPr/>
        </p:nvSpPr>
        <p:spPr>
          <a:xfrm>
            <a:off x="1234440" y="5349240"/>
            <a:ext cx="9692640" cy="502920"/>
          </a:xfrm>
          <a:prstGeom prst="roundRect">
            <a:avLst>
              <a:gd name="adj" fmla="val 25455"/>
            </a:avLst>
          </a:prstGeom>
          <a:solidFill>
            <a:srgbClr val="DCFCE7"/>
          </a:solidFill>
          <a:ln w="12700">
            <a:solidFill>
              <a:srgbClr val="DCFCE7"/>
            </a:solidFill>
            <a:prstDash val="solid"/>
          </a:ln>
        </p:spPr>
      </p:sp>
      <p:sp>
        <p:nvSpPr>
          <p:cNvPr id="22" name="Text 20"/>
          <p:cNvSpPr/>
          <p:nvPr/>
        </p:nvSpPr>
        <p:spPr>
          <a:xfrm>
            <a:off x="1417320" y="5504688"/>
            <a:ext cx="9326880" cy="201168"/>
          </a:xfrm>
          <a:prstGeom prst="rect">
            <a:avLst/>
          </a:prstGeom>
          <a:noFill/>
          <a:ln/>
        </p:spPr>
        <p:txBody>
          <a:bodyPr wrap="square" lIns="0" tIns="0" rIns="0" bIns="0" rtlCol="0" anchor="ctr">
            <a:normAutofit/>
          </a:bodyPr>
          <a:lstStyle/>
          <a:p>
            <a:pPr algn="ctr" indent="0" marL="0">
              <a:buNone/>
            </a:pPr>
            <a:r>
              <a:rPr lang="en-US" sz="1220" b="1" dirty="0">
                <a:solidFill>
                  <a:srgbClr val="0F766E"/>
                </a:solidFill>
              </a:rPr>
              <a:t>Kết quả nổi bật: hệ thống thể hiện rõ dữ liệu GIS không gian - thời gian và có lớp trực quan 2.5D/3D phục vụ môn học.</a:t>
            </a:r>
            <a:endParaRPr lang="en-US" sz="1220" dirty="0"/>
          </a:p>
        </p:txBody>
      </p:sp>
      <p:sp>
        <p:nvSpPr>
          <p:cNvPr id="23" name="Shape 21"/>
          <p:cNvSpPr/>
          <p:nvPr/>
        </p:nvSpPr>
        <p:spPr>
          <a:xfrm>
            <a:off x="502920" y="6355080"/>
            <a:ext cx="11155680" cy="0"/>
          </a:xfrm>
          <a:prstGeom prst="line">
            <a:avLst/>
          </a:prstGeom>
          <a:noFill/>
          <a:ln w="12700">
            <a:solidFill>
              <a:srgbClr val="E2E8F0"/>
            </a:solidFill>
            <a:prstDash val="solid"/>
          </a:ln>
        </p:spPr>
      </p:sp>
      <p:sp>
        <p:nvSpPr>
          <p:cNvPr id="24" name="Text 22"/>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92608"/>
            <a:ext cx="7040880" cy="411480"/>
          </a:xfrm>
          <a:prstGeom prst="rect">
            <a:avLst/>
          </a:prstGeom>
          <a:noFill/>
          <a:ln/>
        </p:spPr>
        <p:txBody>
          <a:bodyPr wrap="square" lIns="0" tIns="0" rIns="0" bIns="0" rtlCol="0" anchor="ctr"/>
          <a:lstStyle/>
          <a:p>
            <a:pPr indent="0" marL="0">
              <a:buNone/>
            </a:pPr>
            <a:r>
              <a:rPr lang="en-US" sz="2800" b="1" dirty="0">
                <a:solidFill>
                  <a:srgbClr val="102A43"/>
                </a:solidFill>
                <a:latin typeface="Aptos Display" pitchFamily="34" charset="0"/>
                <a:ea typeface="Aptos Display" pitchFamily="34" charset="-122"/>
                <a:cs typeface="Aptos Display" pitchFamily="34" charset="-120"/>
              </a:rPr>
              <a:t>Hạn chế &amp; định hướng phát triển</a:t>
            </a:r>
            <a:endParaRPr lang="en-US" sz="2800" dirty="0"/>
          </a:p>
        </p:txBody>
      </p:sp>
      <p:sp>
        <p:nvSpPr>
          <p:cNvPr id="3" name="Shape 1"/>
          <p:cNvSpPr/>
          <p:nvPr/>
        </p:nvSpPr>
        <p:spPr>
          <a:xfrm>
            <a:off x="502920" y="822960"/>
            <a:ext cx="1965960" cy="0"/>
          </a:xfrm>
          <a:prstGeom prst="line">
            <a:avLst/>
          </a:prstGeom>
          <a:noFill/>
          <a:ln w="38100">
            <a:solidFill>
              <a:srgbClr val="F97316"/>
            </a:solidFill>
            <a:prstDash val="solid"/>
          </a:ln>
        </p:spPr>
      </p:sp>
      <p:sp>
        <p:nvSpPr>
          <p:cNvPr id="4" name="Text 2"/>
          <p:cNvSpPr/>
          <p:nvPr/>
        </p:nvSpPr>
        <p:spPr>
          <a:xfrm>
            <a:off x="8229600" y="356616"/>
            <a:ext cx="3383280" cy="320040"/>
          </a:xfrm>
          <a:prstGeom prst="rect">
            <a:avLst/>
          </a:prstGeom>
          <a:noFill/>
          <a:ln/>
        </p:spPr>
        <p:txBody>
          <a:bodyPr wrap="square" lIns="0" tIns="0" rIns="0" bIns="0" rtlCol="0" anchor="ctr"/>
          <a:lstStyle/>
          <a:p>
            <a:pPr algn="r" indent="0" marL="0">
              <a:buNone/>
            </a:pPr>
            <a:r>
              <a:rPr lang="en-US" sz="1050" dirty="0">
                <a:solidFill>
                  <a:srgbClr val="64748B"/>
                </a:solidFill>
              </a:rPr>
              <a:t>Nhìn nhận đúng phạm vi và hướng mở rộng</a:t>
            </a:r>
            <a:endParaRPr lang="en-US" sz="1050" dirty="0"/>
          </a:p>
        </p:txBody>
      </p:sp>
      <p:sp>
        <p:nvSpPr>
          <p:cNvPr id="5" name="Text 3"/>
          <p:cNvSpPr/>
          <p:nvPr/>
        </p:nvSpPr>
        <p:spPr>
          <a:xfrm>
            <a:off x="777240" y="1143000"/>
            <a:ext cx="3108960" cy="274320"/>
          </a:xfrm>
          <a:prstGeom prst="rect">
            <a:avLst/>
          </a:prstGeom>
          <a:noFill/>
          <a:ln/>
        </p:spPr>
        <p:txBody>
          <a:bodyPr wrap="square" lIns="0" tIns="0" rIns="0" bIns="0" rtlCol="0" anchor="ctr"/>
          <a:lstStyle/>
          <a:p>
            <a:pPr indent="0" marL="0">
              <a:buNone/>
            </a:pPr>
            <a:r>
              <a:rPr lang="en-US" sz="1800" b="1" dirty="0">
                <a:solidFill>
                  <a:srgbClr val="DC2626"/>
                </a:solidFill>
              </a:rPr>
              <a:t>Hạn chế hiện tại</a:t>
            </a:r>
            <a:endParaRPr lang="en-US" sz="1800" dirty="0"/>
          </a:p>
        </p:txBody>
      </p:sp>
      <p:sp>
        <p:nvSpPr>
          <p:cNvPr id="6" name="Text 4"/>
          <p:cNvSpPr/>
          <p:nvPr/>
        </p:nvSpPr>
        <p:spPr>
          <a:xfrm>
            <a:off x="822960" y="1627632"/>
            <a:ext cx="4937760" cy="1828800"/>
          </a:xfrm>
          <a:prstGeom prst="rect">
            <a:avLst/>
          </a:prstGeom>
          <a:noFill/>
          <a:ln/>
        </p:spPr>
        <p:txBody>
          <a:bodyPr wrap="square" lIns="508" tIns="508" rIns="508" bIns="508" rtlCol="0" anchor="ctr">
            <a:normAutofit/>
          </a:bodyPr>
          <a:lstStyle/>
          <a:p>
            <a:pPr marL="177800" indent="-177800">
              <a:buSzPct val="100000"/>
              <a:buChar char="•"/>
            </a:pPr>
            <a:r>
              <a:rPr lang="en-US" sz="1400" dirty="0">
                <a:solidFill>
                  <a:srgbClr val="334155"/>
                </a:solidFill>
              </a:rPr>
              <a:t>Dữ liệu phụ thuộc vào API và mô hình thời tiết toàn cầu.</a:t>
            </a:r>
            <a:endParaRPr lang="en-US" sz="1400" dirty="0"/>
          </a:p>
          <a:p>
            <a:pPr marL="177800" indent="-177800">
              <a:buSzPct val="100000"/>
              <a:buChar char="•"/>
            </a:pPr>
            <a:r>
              <a:rPr lang="en-US" sz="1400" dirty="0">
                <a:solidFill>
                  <a:srgbClr val="334155"/>
                </a:solidFill>
              </a:rPr>
              <a:t>IDW đơn giản, chưa mô hình hóa tương quan không gian phức tạp.</a:t>
            </a:r>
            <a:endParaRPr lang="en-US" sz="1400" dirty="0"/>
          </a:p>
          <a:p>
            <a:pPr marL="177800" indent="-177800">
              <a:buSzPct val="100000"/>
              <a:buChar char="•"/>
            </a:pPr>
            <a:r>
              <a:rPr lang="en-US" sz="1400" dirty="0">
                <a:solidFill>
                  <a:srgbClr val="334155"/>
                </a:solidFill>
              </a:rPr>
              <a:t>3D hiện là trực quan cường độ gần bề mặt, chưa phải voxel khí quyển nhiều tầng.</a:t>
            </a:r>
            <a:endParaRPr lang="en-US" sz="1400" dirty="0"/>
          </a:p>
        </p:txBody>
      </p:sp>
      <p:sp>
        <p:nvSpPr>
          <p:cNvPr id="7" name="Text 5"/>
          <p:cNvSpPr/>
          <p:nvPr/>
        </p:nvSpPr>
        <p:spPr>
          <a:xfrm>
            <a:off x="6400800" y="1143000"/>
            <a:ext cx="3474720" cy="274320"/>
          </a:xfrm>
          <a:prstGeom prst="rect">
            <a:avLst/>
          </a:prstGeom>
          <a:noFill/>
          <a:ln/>
        </p:spPr>
        <p:txBody>
          <a:bodyPr wrap="square" lIns="0" tIns="0" rIns="0" bIns="0" rtlCol="0" anchor="ctr"/>
          <a:lstStyle/>
          <a:p>
            <a:pPr indent="0" marL="0">
              <a:buNone/>
            </a:pPr>
            <a:r>
              <a:rPr lang="en-US" sz="1800" b="1" dirty="0">
                <a:solidFill>
                  <a:srgbClr val="16A34A"/>
                </a:solidFill>
              </a:rPr>
              <a:t>Định hướng phát triển</a:t>
            </a:r>
            <a:endParaRPr lang="en-US" sz="1800" dirty="0"/>
          </a:p>
        </p:txBody>
      </p:sp>
      <p:sp>
        <p:nvSpPr>
          <p:cNvPr id="8" name="Text 6"/>
          <p:cNvSpPr/>
          <p:nvPr/>
        </p:nvSpPr>
        <p:spPr>
          <a:xfrm>
            <a:off x="6446520" y="1627632"/>
            <a:ext cx="4983480" cy="1828800"/>
          </a:xfrm>
          <a:prstGeom prst="rect">
            <a:avLst/>
          </a:prstGeom>
          <a:noFill/>
          <a:ln/>
        </p:spPr>
        <p:txBody>
          <a:bodyPr wrap="square" lIns="508" tIns="508" rIns="508" bIns="508" rtlCol="0" anchor="ctr">
            <a:normAutofit/>
          </a:bodyPr>
          <a:lstStyle/>
          <a:p>
            <a:pPr marL="177800" indent="-177800">
              <a:buSzPct val="100000"/>
              <a:buChar char="•"/>
            </a:pPr>
            <a:r>
              <a:rPr lang="en-US" sz="1400" dirty="0">
                <a:solidFill>
                  <a:srgbClr val="334155"/>
                </a:solidFill>
              </a:rPr>
              <a:t>Tích hợp IoT sensors để có dữ liệu đo thực tế địa phương.</a:t>
            </a:r>
            <a:endParaRPr lang="en-US" sz="1400" dirty="0"/>
          </a:p>
          <a:p>
            <a:pPr marL="177800" indent="-177800">
              <a:buSzPct val="100000"/>
              <a:buChar char="•"/>
            </a:pPr>
            <a:r>
              <a:rPr lang="en-US" sz="1400" dirty="0">
                <a:solidFill>
                  <a:srgbClr val="334155"/>
                </a:solidFill>
              </a:rPr>
              <a:t>Nâng cấp dự báo bằng mô hình học sâu không gian - thời gian.</a:t>
            </a:r>
            <a:endParaRPr lang="en-US" sz="1400" dirty="0"/>
          </a:p>
          <a:p>
            <a:pPr marL="177800" indent="-177800">
              <a:buSzPct val="100000"/>
              <a:buChar char="•"/>
            </a:pPr>
            <a:r>
              <a:rPr lang="en-US" sz="1400" dirty="0">
                <a:solidFill>
                  <a:srgbClr val="334155"/>
                </a:solidFill>
              </a:rPr>
              <a:t>Cải tiến nội suy 3D bằng Kriging, DEM hoặc mô hình khí quyển nhiều tầng.</a:t>
            </a:r>
            <a:endParaRPr lang="en-US" sz="1400" dirty="0"/>
          </a:p>
        </p:txBody>
      </p:sp>
      <p:sp>
        <p:nvSpPr>
          <p:cNvPr id="9" name="Shape 7"/>
          <p:cNvSpPr/>
          <p:nvPr/>
        </p:nvSpPr>
        <p:spPr>
          <a:xfrm>
            <a:off x="1143000" y="4572000"/>
            <a:ext cx="1417320" cy="411480"/>
          </a:xfrm>
          <a:prstGeom prst="roundRect">
            <a:avLst>
              <a:gd name="adj" fmla="val 17778"/>
            </a:avLst>
          </a:prstGeom>
          <a:solidFill>
            <a:srgbClr val="1D4ED8"/>
          </a:solidFill>
          <a:ln w="12700">
            <a:solidFill>
              <a:srgbClr val="1D4ED8"/>
            </a:solidFill>
            <a:prstDash val="solid"/>
          </a:ln>
        </p:spPr>
      </p:sp>
      <p:sp>
        <p:nvSpPr>
          <p:cNvPr id="10" name="Text 8"/>
          <p:cNvSpPr/>
          <p:nvPr/>
        </p:nvSpPr>
        <p:spPr>
          <a:xfrm>
            <a:off x="1216152" y="4636008"/>
            <a:ext cx="1271016" cy="301752"/>
          </a:xfrm>
          <a:prstGeom prst="rect">
            <a:avLst/>
          </a:prstGeom>
          <a:noFill/>
          <a:ln/>
        </p:spPr>
        <p:txBody>
          <a:bodyPr wrap="square" lIns="254" tIns="254" rIns="254" bIns="254" rtlCol="0" anchor="ctr">
            <a:normAutofit/>
          </a:bodyPr>
          <a:lstStyle/>
          <a:p>
            <a:pPr algn="ctr" indent="0" marL="0">
              <a:buNone/>
            </a:pPr>
            <a:r>
              <a:rPr lang="en-US" sz="1100" b="1" dirty="0">
                <a:solidFill>
                  <a:srgbClr val="FFFFFF"/>
                </a:solidFill>
              </a:rPr>
              <a:t>Hiện tại</a:t>
            </a:r>
            <a:endParaRPr lang="en-US" sz="1100" dirty="0"/>
          </a:p>
        </p:txBody>
      </p:sp>
      <p:sp>
        <p:nvSpPr>
          <p:cNvPr id="11" name="Shape 9"/>
          <p:cNvSpPr/>
          <p:nvPr/>
        </p:nvSpPr>
        <p:spPr>
          <a:xfrm>
            <a:off x="3383280" y="4572000"/>
            <a:ext cx="1783080" cy="411480"/>
          </a:xfrm>
          <a:prstGeom prst="roundRect">
            <a:avLst>
              <a:gd name="adj" fmla="val 17778"/>
            </a:avLst>
          </a:prstGeom>
          <a:solidFill>
            <a:srgbClr val="F97316"/>
          </a:solidFill>
          <a:ln w="12700">
            <a:solidFill>
              <a:srgbClr val="F97316"/>
            </a:solidFill>
            <a:prstDash val="solid"/>
          </a:ln>
        </p:spPr>
      </p:sp>
      <p:sp>
        <p:nvSpPr>
          <p:cNvPr id="12" name="Text 10"/>
          <p:cNvSpPr/>
          <p:nvPr/>
        </p:nvSpPr>
        <p:spPr>
          <a:xfrm>
            <a:off x="3456432" y="4636008"/>
            <a:ext cx="1636776" cy="301752"/>
          </a:xfrm>
          <a:prstGeom prst="rect">
            <a:avLst/>
          </a:prstGeom>
          <a:noFill/>
          <a:ln/>
        </p:spPr>
        <p:txBody>
          <a:bodyPr wrap="square" lIns="254" tIns="254" rIns="254" bIns="254" rtlCol="0" anchor="ctr">
            <a:normAutofit/>
          </a:bodyPr>
          <a:lstStyle/>
          <a:p>
            <a:pPr algn="ctr" indent="0" marL="0">
              <a:buNone/>
            </a:pPr>
            <a:r>
              <a:rPr lang="en-US" sz="1100" b="1" dirty="0">
                <a:solidFill>
                  <a:srgbClr val="FFFFFF"/>
                </a:solidFill>
              </a:rPr>
              <a:t>Mở rộng dữ liệu</a:t>
            </a:r>
            <a:endParaRPr lang="en-US" sz="1100" dirty="0"/>
          </a:p>
        </p:txBody>
      </p:sp>
      <p:sp>
        <p:nvSpPr>
          <p:cNvPr id="13" name="Shape 11"/>
          <p:cNvSpPr/>
          <p:nvPr/>
        </p:nvSpPr>
        <p:spPr>
          <a:xfrm>
            <a:off x="6172200" y="4572000"/>
            <a:ext cx="1874520" cy="411480"/>
          </a:xfrm>
          <a:prstGeom prst="roundRect">
            <a:avLst>
              <a:gd name="adj" fmla="val 17778"/>
            </a:avLst>
          </a:prstGeom>
          <a:solidFill>
            <a:srgbClr val="16A34A"/>
          </a:solidFill>
          <a:ln w="12700">
            <a:solidFill>
              <a:srgbClr val="16A34A"/>
            </a:solidFill>
            <a:prstDash val="solid"/>
          </a:ln>
        </p:spPr>
      </p:sp>
      <p:sp>
        <p:nvSpPr>
          <p:cNvPr id="14" name="Text 12"/>
          <p:cNvSpPr/>
          <p:nvPr/>
        </p:nvSpPr>
        <p:spPr>
          <a:xfrm>
            <a:off x="6245352" y="4636008"/>
            <a:ext cx="1728216" cy="301752"/>
          </a:xfrm>
          <a:prstGeom prst="rect">
            <a:avLst/>
          </a:prstGeom>
          <a:noFill/>
          <a:ln/>
        </p:spPr>
        <p:txBody>
          <a:bodyPr wrap="square" lIns="254" tIns="254" rIns="254" bIns="254" rtlCol="0" anchor="ctr">
            <a:normAutofit/>
          </a:bodyPr>
          <a:lstStyle/>
          <a:p>
            <a:pPr algn="ctr" indent="0" marL="0">
              <a:buNone/>
            </a:pPr>
            <a:r>
              <a:rPr lang="en-US" sz="1100" b="1" dirty="0">
                <a:solidFill>
                  <a:srgbClr val="FFFFFF"/>
                </a:solidFill>
              </a:rPr>
              <a:t>Mô hình nâng cao</a:t>
            </a:r>
            <a:endParaRPr lang="en-US" sz="1100" dirty="0"/>
          </a:p>
        </p:txBody>
      </p:sp>
      <p:sp>
        <p:nvSpPr>
          <p:cNvPr id="15" name="Shape 13"/>
          <p:cNvSpPr/>
          <p:nvPr/>
        </p:nvSpPr>
        <p:spPr>
          <a:xfrm>
            <a:off x="9098280" y="4572000"/>
            <a:ext cx="1600200" cy="411480"/>
          </a:xfrm>
          <a:prstGeom prst="roundRect">
            <a:avLst>
              <a:gd name="adj" fmla="val 17778"/>
            </a:avLst>
          </a:prstGeom>
          <a:solidFill>
            <a:srgbClr val="0F766E"/>
          </a:solidFill>
          <a:ln w="12700">
            <a:solidFill>
              <a:srgbClr val="0F766E"/>
            </a:solidFill>
            <a:prstDash val="solid"/>
          </a:ln>
        </p:spPr>
      </p:sp>
      <p:sp>
        <p:nvSpPr>
          <p:cNvPr id="16" name="Text 14"/>
          <p:cNvSpPr/>
          <p:nvPr/>
        </p:nvSpPr>
        <p:spPr>
          <a:xfrm>
            <a:off x="9171432" y="4636008"/>
            <a:ext cx="1453896" cy="301752"/>
          </a:xfrm>
          <a:prstGeom prst="rect">
            <a:avLst/>
          </a:prstGeom>
          <a:noFill/>
          <a:ln/>
        </p:spPr>
        <p:txBody>
          <a:bodyPr wrap="square" lIns="254" tIns="254" rIns="254" bIns="254" rtlCol="0" anchor="ctr">
            <a:normAutofit/>
          </a:bodyPr>
          <a:lstStyle/>
          <a:p>
            <a:pPr algn="ctr" indent="0" marL="0">
              <a:buNone/>
            </a:pPr>
            <a:r>
              <a:rPr lang="en-US" sz="1100" b="1" dirty="0">
                <a:solidFill>
                  <a:srgbClr val="FFFFFF"/>
                </a:solidFill>
              </a:rPr>
              <a:t>GIS 3D thật</a:t>
            </a:r>
            <a:endParaRPr lang="en-US" sz="1100" dirty="0"/>
          </a:p>
        </p:txBody>
      </p:sp>
      <p:sp>
        <p:nvSpPr>
          <p:cNvPr id="17" name="Shape 15"/>
          <p:cNvSpPr/>
          <p:nvPr/>
        </p:nvSpPr>
        <p:spPr>
          <a:xfrm>
            <a:off x="2606040" y="4782312"/>
            <a:ext cx="704088" cy="0"/>
          </a:xfrm>
          <a:prstGeom prst="line">
            <a:avLst/>
          </a:prstGeom>
          <a:noFill/>
          <a:ln w="19050">
            <a:solidFill>
              <a:srgbClr val="94A3B8"/>
            </a:solidFill>
            <a:prstDash val="solid"/>
            <a:headEnd type="none"/>
            <a:tailEnd type="triangle"/>
          </a:ln>
        </p:spPr>
      </p:sp>
      <p:sp>
        <p:nvSpPr>
          <p:cNvPr id="18" name="Shape 16"/>
          <p:cNvSpPr/>
          <p:nvPr/>
        </p:nvSpPr>
        <p:spPr>
          <a:xfrm>
            <a:off x="5230368" y="4782312"/>
            <a:ext cx="868680" cy="0"/>
          </a:xfrm>
          <a:prstGeom prst="line">
            <a:avLst/>
          </a:prstGeom>
          <a:noFill/>
          <a:ln w="19050">
            <a:solidFill>
              <a:srgbClr val="94A3B8"/>
            </a:solidFill>
            <a:prstDash val="solid"/>
            <a:headEnd type="none"/>
            <a:tailEnd type="triangle"/>
          </a:ln>
        </p:spPr>
      </p:sp>
      <p:sp>
        <p:nvSpPr>
          <p:cNvPr id="19" name="Shape 17"/>
          <p:cNvSpPr/>
          <p:nvPr/>
        </p:nvSpPr>
        <p:spPr>
          <a:xfrm>
            <a:off x="8110728" y="4782312"/>
            <a:ext cx="896112" cy="0"/>
          </a:xfrm>
          <a:prstGeom prst="line">
            <a:avLst/>
          </a:prstGeom>
          <a:noFill/>
          <a:ln w="19050">
            <a:solidFill>
              <a:srgbClr val="94A3B8"/>
            </a:solidFill>
            <a:prstDash val="solid"/>
            <a:headEnd type="none"/>
            <a:tailEnd type="triangle"/>
          </a:ln>
        </p:spPr>
      </p:sp>
      <p:sp>
        <p:nvSpPr>
          <p:cNvPr id="20" name="Shape 18"/>
          <p:cNvSpPr/>
          <p:nvPr/>
        </p:nvSpPr>
        <p:spPr>
          <a:xfrm>
            <a:off x="502920" y="6355080"/>
            <a:ext cx="11155680" cy="0"/>
          </a:xfrm>
          <a:prstGeom prst="line">
            <a:avLst/>
          </a:prstGeom>
          <a:noFill/>
          <a:ln w="12700">
            <a:solidFill>
              <a:srgbClr val="E2E8F0"/>
            </a:solidFill>
            <a:prstDash val="solid"/>
          </a:ln>
        </p:spPr>
      </p:sp>
      <p:sp>
        <p:nvSpPr>
          <p:cNvPr id="21" name="Text 19"/>
          <p:cNvSpPr/>
          <p:nvPr/>
        </p:nvSpPr>
        <p:spPr>
          <a:xfrm>
            <a:off x="502920" y="6437376"/>
            <a:ext cx="7040880" cy="182880"/>
          </a:xfrm>
          <a:prstGeom prst="rect">
            <a:avLst/>
          </a:prstGeom>
          <a:noFill/>
          <a:ln/>
        </p:spPr>
        <p:txBody>
          <a:bodyPr wrap="square" lIns="0" tIns="0" rIns="0" bIns="0" rtlCol="0" anchor="ctr"/>
          <a:lstStyle/>
          <a:p>
            <a:pPr indent="0" marL="0">
              <a:buNone/>
            </a:pPr>
            <a:r>
              <a:rPr lang="en-US" sz="850" dirty="0">
                <a:solidFill>
                  <a:srgbClr val="94A3B8"/>
                </a:solidFill>
              </a:rPr>
              <a:t>IE402 - Hệ thống thông tin địa lý 3 chiều | Nhóm 6</a:t>
            </a:r>
            <a:endParaRPr lang="en-US" sz="85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Text 1"/>
          <p:cNvSpPr/>
          <p:nvPr/>
        </p:nvSpPr>
        <p:spPr>
          <a:xfrm>
            <a:off x="822960" y="640080"/>
            <a:ext cx="2926080" cy="384048"/>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Kết luận</a:t>
            </a:r>
            <a:endParaRPr lang="en-US" sz="3000" dirty="0"/>
          </a:p>
        </p:txBody>
      </p:sp>
      <p:sp>
        <p:nvSpPr>
          <p:cNvPr id="4" name="Shape 2"/>
          <p:cNvSpPr/>
          <p:nvPr/>
        </p:nvSpPr>
        <p:spPr>
          <a:xfrm>
            <a:off x="822960" y="1170432"/>
            <a:ext cx="1828800" cy="0"/>
          </a:xfrm>
          <a:prstGeom prst="line">
            <a:avLst/>
          </a:prstGeom>
          <a:noFill/>
          <a:ln w="38100">
            <a:solidFill>
              <a:srgbClr val="F97316"/>
            </a:solidFill>
            <a:prstDash val="solid"/>
          </a:ln>
        </p:spPr>
      </p:sp>
      <p:sp>
        <p:nvSpPr>
          <p:cNvPr id="5" name="Shape 3"/>
          <p:cNvSpPr/>
          <p:nvPr/>
        </p:nvSpPr>
        <p:spPr>
          <a:xfrm>
            <a:off x="914400" y="1828800"/>
            <a:ext cx="3108960" cy="1234440"/>
          </a:xfrm>
          <a:prstGeom prst="roundRect">
            <a:avLst>
              <a:gd name="adj" fmla="val 8889"/>
            </a:avLst>
          </a:prstGeom>
          <a:solidFill>
            <a:srgbClr val="FFFFFF"/>
          </a:solidFill>
          <a:ln w="12700">
            <a:solidFill>
              <a:srgbClr val="E2E8F0"/>
            </a:solidFill>
            <a:prstDash val="solid"/>
          </a:ln>
        </p:spPr>
      </p:sp>
      <p:sp>
        <p:nvSpPr>
          <p:cNvPr id="6" name="Shape 4"/>
          <p:cNvSpPr/>
          <p:nvPr/>
        </p:nvSpPr>
        <p:spPr>
          <a:xfrm>
            <a:off x="914400" y="1828800"/>
            <a:ext cx="64008" cy="1234440"/>
          </a:xfrm>
          <a:prstGeom prst="rect">
            <a:avLst/>
          </a:prstGeom>
          <a:solidFill>
            <a:srgbClr val="1D4ED8"/>
          </a:solidFill>
          <a:ln w="12700">
            <a:solidFill>
              <a:srgbClr val="1D4ED8"/>
            </a:solidFill>
            <a:prstDash val="solid"/>
          </a:ln>
        </p:spPr>
      </p:sp>
      <p:sp>
        <p:nvSpPr>
          <p:cNvPr id="7" name="Text 5"/>
          <p:cNvSpPr/>
          <p:nvPr/>
        </p:nvSpPr>
        <p:spPr>
          <a:xfrm>
            <a:off x="1115568" y="1993392"/>
            <a:ext cx="2788920" cy="256032"/>
          </a:xfrm>
          <a:prstGeom prst="rect">
            <a:avLst/>
          </a:prstGeom>
          <a:noFill/>
          <a:ln/>
        </p:spPr>
        <p:txBody>
          <a:bodyPr wrap="square" lIns="0" tIns="0" rIns="0" bIns="0" rtlCol="0" anchor="ctr">
            <a:normAutofit/>
          </a:bodyPr>
          <a:lstStyle/>
          <a:p>
            <a:pPr indent="0" marL="0">
              <a:buNone/>
            </a:pPr>
            <a:r>
              <a:rPr lang="en-US" sz="1400" b="1" dirty="0">
                <a:solidFill>
                  <a:srgbClr val="1D4ED8"/>
                </a:solidFill>
              </a:rPr>
              <a:t>Bài toán phù hợp GIS</a:t>
            </a:r>
            <a:endParaRPr lang="en-US" sz="1400" dirty="0"/>
          </a:p>
        </p:txBody>
      </p:sp>
      <p:sp>
        <p:nvSpPr>
          <p:cNvPr id="8" name="Text 6"/>
          <p:cNvSpPr/>
          <p:nvPr/>
        </p:nvSpPr>
        <p:spPr>
          <a:xfrm>
            <a:off x="1115568" y="2331720"/>
            <a:ext cx="2788920" cy="66751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Dữ liệu thời tiết có vị trí, thời gian và thuộc tính khí tượng.</a:t>
            </a:r>
            <a:endParaRPr lang="en-US" sz="1150" dirty="0"/>
          </a:p>
        </p:txBody>
      </p:sp>
      <p:sp>
        <p:nvSpPr>
          <p:cNvPr id="9" name="Shape 7"/>
          <p:cNvSpPr/>
          <p:nvPr/>
        </p:nvSpPr>
        <p:spPr>
          <a:xfrm>
            <a:off x="4617720" y="1828800"/>
            <a:ext cx="3108960" cy="1234440"/>
          </a:xfrm>
          <a:prstGeom prst="roundRect">
            <a:avLst>
              <a:gd name="adj" fmla="val 8889"/>
            </a:avLst>
          </a:prstGeom>
          <a:solidFill>
            <a:srgbClr val="FFFFFF"/>
          </a:solidFill>
          <a:ln w="12700">
            <a:solidFill>
              <a:srgbClr val="E2E8F0"/>
            </a:solidFill>
            <a:prstDash val="solid"/>
          </a:ln>
        </p:spPr>
      </p:sp>
      <p:sp>
        <p:nvSpPr>
          <p:cNvPr id="10" name="Shape 8"/>
          <p:cNvSpPr/>
          <p:nvPr/>
        </p:nvSpPr>
        <p:spPr>
          <a:xfrm>
            <a:off x="4617720" y="1828800"/>
            <a:ext cx="64008" cy="1234440"/>
          </a:xfrm>
          <a:prstGeom prst="rect">
            <a:avLst/>
          </a:prstGeom>
          <a:solidFill>
            <a:srgbClr val="F97316"/>
          </a:solidFill>
          <a:ln w="12700">
            <a:solidFill>
              <a:srgbClr val="F97316"/>
            </a:solidFill>
            <a:prstDash val="solid"/>
          </a:ln>
        </p:spPr>
      </p:sp>
      <p:sp>
        <p:nvSpPr>
          <p:cNvPr id="11" name="Text 9"/>
          <p:cNvSpPr/>
          <p:nvPr/>
        </p:nvSpPr>
        <p:spPr>
          <a:xfrm>
            <a:off x="4818888" y="1993392"/>
            <a:ext cx="2788920" cy="256032"/>
          </a:xfrm>
          <a:prstGeom prst="rect">
            <a:avLst/>
          </a:prstGeom>
          <a:noFill/>
          <a:ln/>
        </p:spPr>
        <p:txBody>
          <a:bodyPr wrap="square" lIns="0" tIns="0" rIns="0" bIns="0" rtlCol="0" anchor="ctr">
            <a:normAutofit/>
          </a:bodyPr>
          <a:lstStyle/>
          <a:p>
            <a:pPr indent="0" marL="0">
              <a:buNone/>
            </a:pPr>
            <a:r>
              <a:rPr lang="en-US" sz="1400" b="1" dirty="0">
                <a:solidFill>
                  <a:srgbClr val="F97316"/>
                </a:solidFill>
              </a:rPr>
              <a:t>Mô hình có cơ sở</a:t>
            </a:r>
            <a:endParaRPr lang="en-US" sz="1400" dirty="0"/>
          </a:p>
        </p:txBody>
      </p:sp>
      <p:sp>
        <p:nvSpPr>
          <p:cNvPr id="12" name="Text 10"/>
          <p:cNvSpPr/>
          <p:nvPr/>
        </p:nvSpPr>
        <p:spPr>
          <a:xfrm>
            <a:off x="4818888" y="2331720"/>
            <a:ext cx="2788920" cy="66751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Spaghetti 2D-T làm lõi, Raster/IDW và 2.5D/3D làm lớp dẫn xuất.</a:t>
            </a:r>
            <a:endParaRPr lang="en-US" sz="1150" dirty="0"/>
          </a:p>
        </p:txBody>
      </p:sp>
      <p:sp>
        <p:nvSpPr>
          <p:cNvPr id="13" name="Shape 11"/>
          <p:cNvSpPr/>
          <p:nvPr/>
        </p:nvSpPr>
        <p:spPr>
          <a:xfrm>
            <a:off x="8321040" y="1828800"/>
            <a:ext cx="3108960" cy="1234440"/>
          </a:xfrm>
          <a:prstGeom prst="roundRect">
            <a:avLst>
              <a:gd name="adj" fmla="val 8889"/>
            </a:avLst>
          </a:prstGeom>
          <a:solidFill>
            <a:srgbClr val="FFFFFF"/>
          </a:solidFill>
          <a:ln w="12700">
            <a:solidFill>
              <a:srgbClr val="E2E8F0"/>
            </a:solidFill>
            <a:prstDash val="solid"/>
          </a:ln>
        </p:spPr>
      </p:sp>
      <p:sp>
        <p:nvSpPr>
          <p:cNvPr id="14" name="Shape 12"/>
          <p:cNvSpPr/>
          <p:nvPr/>
        </p:nvSpPr>
        <p:spPr>
          <a:xfrm>
            <a:off x="8321040" y="1828800"/>
            <a:ext cx="64008" cy="1234440"/>
          </a:xfrm>
          <a:prstGeom prst="rect">
            <a:avLst/>
          </a:prstGeom>
          <a:solidFill>
            <a:srgbClr val="16A34A"/>
          </a:solidFill>
          <a:ln w="12700">
            <a:solidFill>
              <a:srgbClr val="16A34A"/>
            </a:solidFill>
            <a:prstDash val="solid"/>
          </a:ln>
        </p:spPr>
      </p:sp>
      <p:sp>
        <p:nvSpPr>
          <p:cNvPr id="15" name="Text 13"/>
          <p:cNvSpPr/>
          <p:nvPr/>
        </p:nvSpPr>
        <p:spPr>
          <a:xfrm>
            <a:off x="8522208" y="1993392"/>
            <a:ext cx="2788920" cy="256032"/>
          </a:xfrm>
          <a:prstGeom prst="rect">
            <a:avLst/>
          </a:prstGeom>
          <a:noFill/>
          <a:ln/>
        </p:spPr>
        <p:txBody>
          <a:bodyPr wrap="square" lIns="0" tIns="0" rIns="0" bIns="0" rtlCol="0" anchor="ctr">
            <a:normAutofit/>
          </a:bodyPr>
          <a:lstStyle/>
          <a:p>
            <a:pPr indent="0" marL="0">
              <a:buNone/>
            </a:pPr>
            <a:r>
              <a:rPr lang="en-US" sz="1400" b="1" dirty="0">
                <a:solidFill>
                  <a:srgbClr val="16A34A"/>
                </a:solidFill>
              </a:rPr>
              <a:t>Hệ thống có tính ứng dụng</a:t>
            </a:r>
            <a:endParaRPr lang="en-US" sz="1400" dirty="0"/>
          </a:p>
        </p:txBody>
      </p:sp>
      <p:sp>
        <p:nvSpPr>
          <p:cNvPr id="16" name="Text 14"/>
          <p:cNvSpPr/>
          <p:nvPr/>
        </p:nvSpPr>
        <p:spPr>
          <a:xfrm>
            <a:off x="8522208" y="2331720"/>
            <a:ext cx="2788920" cy="667512"/>
          </a:xfrm>
          <a:prstGeom prst="rect">
            <a:avLst/>
          </a:prstGeom>
          <a:noFill/>
          <a:ln/>
        </p:spPr>
        <p:txBody>
          <a:bodyPr wrap="square" lIns="254" tIns="254" rIns="254" bIns="254" rtlCol="0" anchor="ctr">
            <a:normAutofit/>
          </a:bodyPr>
          <a:lstStyle/>
          <a:p>
            <a:pPr indent="0" marL="0">
              <a:buNone/>
            </a:pPr>
            <a:r>
              <a:rPr lang="en-US" sz="1150" dirty="0">
                <a:solidFill>
                  <a:srgbClr val="334155"/>
                </a:solidFill>
              </a:rPr>
              <a:t>WebGIS đa lớp, phân tích/dự báo, quản trị và kiểm toán dữ liệu.</a:t>
            </a:r>
            <a:endParaRPr lang="en-US" sz="1150" dirty="0"/>
          </a:p>
        </p:txBody>
      </p:sp>
      <p:sp>
        <p:nvSpPr>
          <p:cNvPr id="17" name="Text 15"/>
          <p:cNvSpPr/>
          <p:nvPr/>
        </p:nvSpPr>
        <p:spPr>
          <a:xfrm>
            <a:off x="1097280" y="4206240"/>
            <a:ext cx="9966960" cy="411480"/>
          </a:xfrm>
          <a:prstGeom prst="rect">
            <a:avLst/>
          </a:prstGeom>
          <a:noFill/>
          <a:ln/>
        </p:spPr>
        <p:txBody>
          <a:bodyPr wrap="square" lIns="0" tIns="0" rIns="0" bIns="0" rtlCol="0" anchor="ctr"/>
          <a:lstStyle/>
          <a:p>
            <a:pPr algn="ctr" indent="0" marL="0">
              <a:buNone/>
            </a:pPr>
            <a:r>
              <a:rPr lang="en-US" sz="2500" b="1" dirty="0">
                <a:solidFill>
                  <a:srgbClr val="FFFFFF"/>
                </a:solidFill>
              </a:rPr>
              <a:t>Cảm ơn thầy và các bạn đã lắng nghe</a:t>
            </a:r>
            <a:endParaRPr lang="en-US" sz="2500" dirty="0"/>
          </a:p>
        </p:txBody>
      </p:sp>
      <p:sp>
        <p:nvSpPr>
          <p:cNvPr id="18" name="Text 16"/>
          <p:cNvSpPr/>
          <p:nvPr/>
        </p:nvSpPr>
        <p:spPr>
          <a:xfrm>
            <a:off x="5074920" y="4892040"/>
            <a:ext cx="2011680" cy="594360"/>
          </a:xfrm>
          <a:prstGeom prst="rect">
            <a:avLst/>
          </a:prstGeom>
          <a:noFill/>
          <a:ln/>
        </p:spPr>
        <p:txBody>
          <a:bodyPr wrap="square" lIns="0" tIns="0" rIns="0" bIns="0" rtlCol="0" anchor="ctr"/>
          <a:lstStyle/>
          <a:p>
            <a:pPr algn="ctr" indent="0" marL="0">
              <a:buNone/>
            </a:pPr>
            <a:r>
              <a:rPr lang="en-US" sz="3600" b="1" dirty="0">
                <a:solidFill>
                  <a:srgbClr val="F97316"/>
                </a:solidFill>
                <a:latin typeface="Aptos Display" pitchFamily="34" charset="0"/>
                <a:ea typeface="Aptos Display" pitchFamily="34" charset="-122"/>
                <a:cs typeface="Aptos Display" pitchFamily="34" charset="-120"/>
              </a:rPr>
              <a:t>Q&amp;A</a:t>
            </a:r>
            <a:endParaRPr lang="en-US" sz="3600" dirty="0"/>
          </a:p>
        </p:txBody>
      </p:sp>
      <p:sp>
        <p:nvSpPr>
          <p:cNvPr id="25" name="Slide Number Placeholder 0"/>
          <p:cNvSpPr>
            <a:spLocks noGrp="1"/>
          </p:cNvSpPr>
          <p:nvPr>
            <p:ph type="sldNum" sz="quarter" idx="4294967295"/>
          </p:nvPr>
        </p:nvSpPr>
        <p:spPr>
          <a:xfrm>
            <a:off x="11247120" y="6446520"/>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94A3B8"/>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UIT - IE402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GIS thời tiết TP.HCM</dc:title>
  <dc:subject>Hệ thống GIS hỗ trợ trực quan hóa, phân tích và dự báo thời tiết ngắn hạn tại TP.HCM</dc:subject>
  <dc:creator>Nhóm 6</dc:creator>
  <cp:lastModifiedBy>Nhóm 6</cp:lastModifiedBy>
  <cp:revision>1</cp:revision>
  <dcterms:created xsi:type="dcterms:W3CDTF">2026-06-12T15:54:25Z</dcterms:created>
  <dcterms:modified xsi:type="dcterms:W3CDTF">2026-06-12T15:54:25Z</dcterms:modified>
</cp:coreProperties>
</file>